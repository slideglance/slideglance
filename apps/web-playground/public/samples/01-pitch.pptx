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</c:v>
                </c:pt>
              </c:strCache>
            </c:strRef>
          </c:tx>
          <c:spPr>
            <a:solidFill>
              <a:srgbClr val="2EE6C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24Q3</c:v>
                  </c:pt>
                  <c:pt idx="1">
                    <c:v>24Q4</c:v>
                  </c:pt>
                  <c:pt idx="2">
                    <c:v>25Q1</c:v>
                  </c:pt>
                  <c:pt idx="3">
                    <c:v>25Q2</c:v>
                  </c:pt>
                  <c:pt idx="4">
                    <c:v>25Q3</c:v>
                  </c:pt>
                  <c:pt idx="5">
                    <c:v>25Q4</c:v>
                  </c:pt>
                  <c:pt idx="6">
                    <c:v>26Q1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</c:v>
                </c:pt>
                <c:pt idx="1">
                  <c:v>1</c:v>
                </c:pt>
                <c:pt idx="2">
                  <c:v>1.6</c:v>
                </c:pt>
                <c:pt idx="3">
                  <c:v>2.2</c:v>
                </c:pt>
                <c:pt idx="4">
                  <c:v>2.9</c:v>
                </c:pt>
                <c:pt idx="5">
                  <c:v>3.6</c:v>
                </c:pt>
                <c:pt idx="6">
                  <c:v>4.2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29500" y="-1905000"/>
            <a:ext cx="6667500" cy="6667500"/>
          </a:xfrm>
          <a:prstGeom prst="rect">
            <a:avLst/>
          </a:prstGeom>
          <a:solidFill>
            <a:srgbClr val="7C5CFF">
              <a:alpha val="-790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72500" y="-952500"/>
            <a:ext cx="4762500" cy="4762500"/>
          </a:xfrm>
          <a:prstGeom prst="rect">
            <a:avLst/>
          </a:prstGeom>
          <a:solidFill>
            <a:srgbClr val="2EE6CA">
              <a:alpha val="-870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33400" y="533400"/>
            <a:ext cx="38100" cy="190500"/>
          </a:xfrm>
          <a:prstGeom prst="rect">
            <a:avLst/>
          </a:prstGeom>
          <a:solidFill>
            <a:srgbClr val="2EE6CA"/>
          </a:solidFill>
          <a:ln/>
        </p:spPr>
      </p:sp>
      <p:sp>
        <p:nvSpPr>
          <p:cNvPr id="5" name="Text 3"/>
          <p:cNvSpPr/>
          <p:nvPr/>
        </p:nvSpPr>
        <p:spPr>
          <a:xfrm>
            <a:off x="647700" y="533400"/>
            <a:ext cx="2286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FLOWBASE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GE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304800"/>
            <a:ext cx="38100" cy="133350"/>
          </a:xfrm>
          <a:prstGeom prst="rect">
            <a:avLst/>
          </a:prstGeom>
          <a:solidFill>
            <a:srgbClr val="2EE6CA"/>
          </a:solidFill>
          <a:ln/>
        </p:spPr>
      </p:sp>
      <p:sp>
        <p:nvSpPr>
          <p:cNvPr id="3" name="Text 1"/>
          <p:cNvSpPr/>
          <p:nvPr/>
        </p:nvSpPr>
        <p:spPr>
          <a:xfrm>
            <a:off x="647700" y="304800"/>
            <a:ext cx="22860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FLOWBASE · SERIES A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9753600" y="304800"/>
            <a:ext cx="19050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F6F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INVESTOR DECK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533400" y="533400"/>
            <a:ext cx="11125200" cy="9525"/>
          </a:xfrm>
          <a:prstGeom prst="rect">
            <a:avLst/>
          </a:prstGeom>
          <a:solidFill>
            <a:srgbClr val="2C2C55"/>
          </a:solidFill>
          <a:ln/>
        </p:spPr>
      </p:sp>
      <p:sp>
        <p:nvSpPr>
          <p:cNvPr id="6" name="Shape 4"/>
          <p:cNvSpPr/>
          <p:nvPr/>
        </p:nvSpPr>
        <p:spPr>
          <a:xfrm>
            <a:off x="533400" y="6438900"/>
            <a:ext cx="11125200" cy="9525"/>
          </a:xfrm>
          <a:prstGeom prst="rect">
            <a:avLst/>
          </a:prstGeom>
          <a:solidFill>
            <a:srgbClr val="2C2C55"/>
          </a:solidFill>
          <a:ln/>
        </p:spPr>
      </p:sp>
      <p:sp>
        <p:nvSpPr>
          <p:cNvPr id="7" name="Text 5"/>
          <p:cNvSpPr/>
          <p:nvPr/>
        </p:nvSpPr>
        <p:spPr>
          <a:xfrm>
            <a:off x="533400" y="6553200"/>
            <a:ext cx="38100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F6F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flowbase.ai · confidential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8B8BA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8B8BA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1952625"/>
            <a:ext cx="133350" cy="28575"/>
          </a:xfrm>
          <a:prstGeom prst="rect">
            <a:avLst/>
          </a:prstGeom>
          <a:solidFill>
            <a:srgbClr val="2EE6CA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1914525"/>
            <a:ext cx="108966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PITCH · SERIES A · 2026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33400" y="2286000"/>
            <a:ext cx="111252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 that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33400" y="3248025"/>
            <a:ext cx="111252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ships itself.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33400" y="4210050"/>
            <a:ext cx="60960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Flowbase turns shipping intent into deployed software. We've taken the 12-step CI/CD pipeline to a one-step prompt — and 240 teams have already deployed 18,000+ builds through it.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3400" y="5438775"/>
            <a:ext cx="3295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$4.2M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33400" y="5724525"/>
            <a:ext cx="32956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 · 4× YoY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33850" y="5438775"/>
            <a:ext cx="9525" cy="419100"/>
          </a:xfrm>
          <a:prstGeom prst="rect">
            <a:avLst/>
          </a:prstGeom>
          <a:solidFill>
            <a:srgbClr val="2C2C55"/>
          </a:solidFill>
          <a:ln/>
        </p:spPr>
      </p:sp>
      <p:sp>
        <p:nvSpPr>
          <p:cNvPr id="10" name="Text 8"/>
          <p:cNvSpPr/>
          <p:nvPr/>
        </p:nvSpPr>
        <p:spPr>
          <a:xfrm>
            <a:off x="4448175" y="5438775"/>
            <a:ext cx="3295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240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448175" y="5724525"/>
            <a:ext cx="32956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paying teams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48625" y="5438775"/>
            <a:ext cx="9525" cy="419100"/>
          </a:xfrm>
          <a:prstGeom prst="rect">
            <a:avLst/>
          </a:prstGeom>
          <a:solidFill>
            <a:srgbClr val="2C2C55"/>
          </a:solidFill>
          <a:ln/>
        </p:spPr>
      </p:sp>
      <p:sp>
        <p:nvSpPr>
          <p:cNvPr id="13" name="Text 11"/>
          <p:cNvSpPr/>
          <p:nvPr/>
        </p:nvSpPr>
        <p:spPr>
          <a:xfrm>
            <a:off x="8362950" y="5438775"/>
            <a:ext cx="3295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18k+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362950" y="5724525"/>
            <a:ext cx="32956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deploys / wk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800100"/>
            <a:ext cx="114300" cy="28575"/>
          </a:xfrm>
          <a:prstGeom prst="rect">
            <a:avLst/>
          </a:prstGeom>
          <a:solidFill>
            <a:srgbClr val="2EE6CA"/>
          </a:solidFill>
          <a:ln/>
        </p:spPr>
      </p:sp>
      <p:sp>
        <p:nvSpPr>
          <p:cNvPr id="3" name="Text 1"/>
          <p:cNvSpPr/>
          <p:nvPr/>
        </p:nvSpPr>
        <p:spPr>
          <a:xfrm>
            <a:off x="723900" y="762000"/>
            <a:ext cx="109347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PROBLEM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33400" y="942975"/>
            <a:ext cx="1112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software is mostly paperwork.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3400" y="13906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Modern teams burn 40% of an engineering week on the choreography between commit and production. The cost is invisible to leadership but corrosive to teams.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3400" y="2009775"/>
            <a:ext cx="3581400" cy="1847850"/>
          </a:xfrm>
          <a:prstGeom prst="roundRect">
            <a:avLst>
              <a:gd name="adj" fmla="val 7142"/>
            </a:avLst>
          </a:prstGeom>
          <a:solidFill>
            <a:srgbClr val="222244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247900"/>
            <a:ext cx="209550" cy="209550"/>
          </a:xfrm>
          <a:prstGeom prst="roundRect">
            <a:avLst>
              <a:gd name="adj" fmla="val 238017"/>
            </a:avLst>
          </a:prstGeom>
          <a:solidFill>
            <a:srgbClr val="7C5CFF"/>
          </a:solidFill>
          <a:ln/>
        </p:spPr>
      </p:sp>
      <p:sp>
        <p:nvSpPr>
          <p:cNvPr id="8" name="Text 6"/>
          <p:cNvSpPr/>
          <p:nvPr/>
        </p:nvSpPr>
        <p:spPr>
          <a:xfrm>
            <a:off x="1066800" y="2238375"/>
            <a:ext cx="28194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Twelve tools, one outage.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2000" y="2552700"/>
            <a:ext cx="3124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typical deploy touches CI, CD, IAM, observability, a feature-flag service, and a status page. Any one outage stops releases for everyone.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05300" y="2009775"/>
            <a:ext cx="3581400" cy="1847850"/>
          </a:xfrm>
          <a:prstGeom prst="roundRect">
            <a:avLst>
              <a:gd name="adj" fmla="val 7142"/>
            </a:avLst>
          </a:prstGeom>
          <a:solidFill>
            <a:srgbClr val="222244"/>
          </a:solidFill>
          <a:ln/>
        </p:spPr>
      </p:sp>
      <p:sp>
        <p:nvSpPr>
          <p:cNvPr id="11" name="Shape 9"/>
          <p:cNvSpPr/>
          <p:nvPr/>
        </p:nvSpPr>
        <p:spPr>
          <a:xfrm>
            <a:off x="4533900" y="2352675"/>
            <a:ext cx="209550" cy="209550"/>
          </a:xfrm>
          <a:prstGeom prst="roundRect">
            <a:avLst>
              <a:gd name="adj" fmla="val 238017"/>
            </a:avLst>
          </a:prstGeom>
          <a:solidFill>
            <a:srgbClr val="7C5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838700" y="2238375"/>
            <a:ext cx="2819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Engineers do release engineering.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3900" y="2771775"/>
            <a:ext cx="3124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expensive headcount on the team writes YAML to wire other YAML. Senior IC time is the most overpriced commodity in the stack.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77200" y="2009775"/>
            <a:ext cx="3581400" cy="1847850"/>
          </a:xfrm>
          <a:prstGeom prst="roundRect">
            <a:avLst>
              <a:gd name="adj" fmla="val 7142"/>
            </a:avLst>
          </a:prstGeom>
          <a:solidFill>
            <a:srgbClr val="222244"/>
          </a:solidFill>
          <a:ln/>
        </p:spPr>
      </p:sp>
      <p:sp>
        <p:nvSpPr>
          <p:cNvPr id="15" name="Shape 13"/>
          <p:cNvSpPr/>
          <p:nvPr/>
        </p:nvSpPr>
        <p:spPr>
          <a:xfrm>
            <a:off x="8305800" y="2352675"/>
            <a:ext cx="209550" cy="209550"/>
          </a:xfrm>
          <a:prstGeom prst="roundRect">
            <a:avLst>
              <a:gd name="adj" fmla="val 238017"/>
            </a:avLst>
          </a:prstGeom>
          <a:solidFill>
            <a:srgbClr val="7C5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610600" y="2238375"/>
            <a:ext cx="2819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mode: rollback hesitation.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5800" y="2771775"/>
            <a:ext cx="3124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blast radius is unknown, teams freeze. Mean-time-to-restore stretches into hours; user-visible incidents accumulate.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3400" y="4162425"/>
            <a:ext cx="4448175" cy="1266825"/>
          </a:xfrm>
          <a:prstGeom prst="roundRect">
            <a:avLst>
              <a:gd name="adj" fmla="val 15196"/>
            </a:avLst>
          </a:prstGeom>
          <a:solidFill>
            <a:srgbClr val="1E1E3F"/>
          </a:solidFill>
          <a:ln/>
        </p:spPr>
      </p:sp>
      <p:sp>
        <p:nvSpPr>
          <p:cNvPr id="19" name="Text 17"/>
          <p:cNvSpPr/>
          <p:nvPr/>
        </p:nvSpPr>
        <p:spPr>
          <a:xfrm>
            <a:off x="800100" y="4371975"/>
            <a:ext cx="3924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SURVEY · CIRCLECI '25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800100" y="4552950"/>
            <a:ext cx="3924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F6B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38%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800100" y="5029200"/>
            <a:ext cx="3924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dev hours sunk into pipeline maintenance &amp; cross-tool glue.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86375" y="4305300"/>
            <a:ext cx="6372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goes.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286375" y="4638675"/>
            <a:ext cx="637222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survey puts the median pipeline at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manual touch-points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between commit and prod. Every one of them is a place a senior engineer is the gatekeeper — and every one of them is automatable.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8B8BA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800100"/>
            <a:ext cx="114300" cy="28575"/>
          </a:xfrm>
          <a:prstGeom prst="rect">
            <a:avLst/>
          </a:prstGeom>
          <a:solidFill>
            <a:srgbClr val="2EE6CA"/>
          </a:solidFill>
          <a:ln/>
        </p:spPr>
      </p:sp>
      <p:sp>
        <p:nvSpPr>
          <p:cNvPr id="3" name="Text 1"/>
          <p:cNvSpPr/>
          <p:nvPr/>
        </p:nvSpPr>
        <p:spPr>
          <a:xfrm>
            <a:off x="723900" y="762000"/>
            <a:ext cx="109347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SOLUTION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33400" y="942975"/>
            <a:ext cx="1112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sentence. Zero pipelines.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3400" y="13906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Flowbase reads your repo, infers your release intent, and runs it. The product is a prompt and a single binary; the rest is automated.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3400" y="2009775"/>
            <a:ext cx="3581400" cy="1095375"/>
          </a:xfrm>
          <a:prstGeom prst="roundRect">
            <a:avLst>
              <a:gd name="adj" fmla="val 20325"/>
            </a:avLst>
          </a:prstGeom>
          <a:solidFill>
            <a:srgbClr val="1E1E3F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" y="2162175"/>
            <a:ext cx="32004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723900" y="2324100"/>
            <a:ext cx="3200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 min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23900" y="2762250"/>
            <a:ext cx="3200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import to first production deploy.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05300" y="2009775"/>
            <a:ext cx="3581400" cy="1095375"/>
          </a:xfrm>
          <a:prstGeom prst="roundRect">
            <a:avLst>
              <a:gd name="adj" fmla="val 20325"/>
            </a:avLst>
          </a:prstGeom>
          <a:solidFill>
            <a:srgbClr val="1E1E3F"/>
          </a:solidFill>
          <a:ln/>
        </p:spPr>
      </p:sp>
      <p:sp>
        <p:nvSpPr>
          <p:cNvPr id="11" name="Text 9"/>
          <p:cNvSpPr/>
          <p:nvPr/>
        </p:nvSpPr>
        <p:spPr>
          <a:xfrm>
            <a:off x="4495800" y="2162175"/>
            <a:ext cx="32004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4495800" y="2324100"/>
            <a:ext cx="3200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 LoC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95800" y="2762250"/>
            <a:ext cx="3200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customer-owned pipeline code on day 180.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7200" y="2009775"/>
            <a:ext cx="3581400" cy="1095375"/>
          </a:xfrm>
          <a:prstGeom prst="roundRect">
            <a:avLst>
              <a:gd name="adj" fmla="val 20325"/>
            </a:avLst>
          </a:prstGeom>
          <a:solidFill>
            <a:srgbClr val="1E1E3F"/>
          </a:solidFill>
          <a:ln/>
        </p:spPr>
      </p:sp>
      <p:sp>
        <p:nvSpPr>
          <p:cNvPr id="15" name="Text 13"/>
          <p:cNvSpPr/>
          <p:nvPr/>
        </p:nvSpPr>
        <p:spPr>
          <a:xfrm>
            <a:off x="8267700" y="2162175"/>
            <a:ext cx="32004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RECOVERY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8267700" y="2324100"/>
            <a:ext cx="3200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42 sec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67700" y="2762250"/>
            <a:ext cx="3200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MTTR — kill switch + auto-rollback.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3400" y="3409950"/>
            <a:ext cx="6448425" cy="2047875"/>
          </a:xfrm>
          <a:prstGeom prst="roundRect">
            <a:avLst>
              <a:gd name="adj" fmla="val 5815"/>
            </a:avLst>
          </a:prstGeom>
          <a:solidFill>
            <a:srgbClr val="1E1E3F"/>
          </a:solidFill>
          <a:ln/>
        </p:spPr>
      </p:sp>
      <p:sp>
        <p:nvSpPr>
          <p:cNvPr id="19" name="Text 17"/>
          <p:cNvSpPr/>
          <p:nvPr/>
        </p:nvSpPr>
        <p:spPr>
          <a:xfrm>
            <a:off x="800100" y="3638550"/>
            <a:ext cx="59245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LOOP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800100" y="3876675"/>
            <a:ext cx="5924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Intent → Plan → Apply.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00100" y="427672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7C5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57250" y="4343400"/>
            <a:ext cx="1524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81100" y="4295775"/>
            <a:ext cx="55435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repo + recent merges to infer the release shape.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0100" y="461962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7C5CFF"/>
          </a:solidFill>
          <a:ln/>
        </p:spPr>
      </p:sp>
      <p:sp>
        <p:nvSpPr>
          <p:cNvPr id="25" name="Text 23"/>
          <p:cNvSpPr/>
          <p:nvPr/>
        </p:nvSpPr>
        <p:spPr>
          <a:xfrm>
            <a:off x="847725" y="4686300"/>
            <a:ext cx="1714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81100" y="4638675"/>
            <a:ext cx="55435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canary, write the rollback contract, surface every assumption.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0100" y="496252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7C5CFF"/>
          </a:solidFill>
          <a:ln/>
        </p:spPr>
      </p:sp>
      <p:sp>
        <p:nvSpPr>
          <p:cNvPr id="28" name="Text 26"/>
          <p:cNvSpPr/>
          <p:nvPr/>
        </p:nvSpPr>
        <p:spPr>
          <a:xfrm>
            <a:off x="847725" y="5029200"/>
            <a:ext cx="1714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81100" y="4981575"/>
            <a:ext cx="55435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policy gates, observable health, instant abort.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210425" y="3409950"/>
            <a:ext cx="4448175" cy="2047875"/>
          </a:xfrm>
          <a:prstGeom prst="roundRect">
            <a:avLst>
              <a:gd name="adj" fmla="val 5815"/>
            </a:avLst>
          </a:prstGeom>
          <a:solidFill>
            <a:srgbClr val="222244"/>
          </a:solidFill>
          <a:ln/>
        </p:spPr>
      </p:sp>
      <p:sp>
        <p:nvSpPr>
          <p:cNvPr id="31" name="Text 29"/>
          <p:cNvSpPr/>
          <p:nvPr/>
        </p:nvSpPr>
        <p:spPr>
          <a:xfrm>
            <a:off x="7439025" y="3638550"/>
            <a:ext cx="399097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QUOTE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7439025" y="3838575"/>
            <a:ext cx="399097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i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"We deleted four internal services on the first day."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439025" y="4448175"/>
            <a:ext cx="3990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Director of Platform, Series-B fintech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8B8BA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800100"/>
            <a:ext cx="114300" cy="28575"/>
          </a:xfrm>
          <a:prstGeom prst="rect">
            <a:avLst/>
          </a:prstGeom>
          <a:solidFill>
            <a:srgbClr val="2EE6CA"/>
          </a:solidFill>
          <a:ln/>
        </p:spPr>
      </p:sp>
      <p:sp>
        <p:nvSpPr>
          <p:cNvPr id="3" name="Text 1"/>
          <p:cNvSpPr/>
          <p:nvPr/>
        </p:nvSpPr>
        <p:spPr>
          <a:xfrm>
            <a:off x="723900" y="762000"/>
            <a:ext cx="109347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TRACTION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33400" y="942975"/>
            <a:ext cx="1112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Twelve months. Four-x ARR.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3400" y="13906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quarter has compounded since GA. Net dollar retention sits at 142%, driven entirely by expansion within existing accounts.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3400" y="2009775"/>
            <a:ext cx="6448425" cy="3105150"/>
          </a:xfrm>
          <a:prstGeom prst="roundRect">
            <a:avLst>
              <a:gd name="adj" fmla="val 2529"/>
            </a:avLst>
          </a:prstGeom>
          <a:solidFill>
            <a:srgbClr val="1E1E3F"/>
          </a:solidFill>
          <a:ln/>
        </p:spPr>
      </p:sp>
      <p:sp>
        <p:nvSpPr>
          <p:cNvPr id="7" name="Text 5"/>
          <p:cNvSpPr/>
          <p:nvPr/>
        </p:nvSpPr>
        <p:spPr>
          <a:xfrm>
            <a:off x="762000" y="2219325"/>
            <a:ext cx="300037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 · QUARTERLY ($M)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3752850" y="2200275"/>
            <a:ext cx="30099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 Q3 — 2026 Q1</a:t>
            </a:r>
            <a:endParaRPr lang="en-US" sz="825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62000" y="2419350"/>
          <a:ext cx="5991225" cy="18097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172325" y="2009775"/>
            <a:ext cx="4486275" cy="952500"/>
          </a:xfrm>
          <a:prstGeom prst="roundRect">
            <a:avLst>
              <a:gd name="adj" fmla="val 26880"/>
            </a:avLst>
          </a:prstGeom>
          <a:solidFill>
            <a:srgbClr val="1E1E3F"/>
          </a:solidFill>
          <a:ln/>
        </p:spPr>
      </p:sp>
      <p:sp>
        <p:nvSpPr>
          <p:cNvPr id="11" name="Text 8"/>
          <p:cNvSpPr/>
          <p:nvPr/>
        </p:nvSpPr>
        <p:spPr>
          <a:xfrm>
            <a:off x="7362825" y="2162175"/>
            <a:ext cx="41052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RETENTION</a:t>
            </a:r>
            <a:endParaRPr lang="en-US" sz="825" dirty="0"/>
          </a:p>
        </p:txBody>
      </p:sp>
      <p:sp>
        <p:nvSpPr>
          <p:cNvPr id="12" name="Text 9"/>
          <p:cNvSpPr/>
          <p:nvPr/>
        </p:nvSpPr>
        <p:spPr>
          <a:xfrm>
            <a:off x="7362825" y="2295525"/>
            <a:ext cx="4105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142%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362825" y="2647950"/>
            <a:ext cx="4105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LTM, weighted by ARR.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172325" y="3086100"/>
            <a:ext cx="4486275" cy="942975"/>
          </a:xfrm>
          <a:prstGeom prst="roundRect">
            <a:avLst>
              <a:gd name="adj" fmla="val 27426"/>
            </a:avLst>
          </a:prstGeom>
          <a:solidFill>
            <a:srgbClr val="1E1E3F"/>
          </a:solidFill>
          <a:ln/>
        </p:spPr>
      </p:sp>
      <p:sp>
        <p:nvSpPr>
          <p:cNvPr id="15" name="Text 12"/>
          <p:cNvSpPr/>
          <p:nvPr/>
        </p:nvSpPr>
        <p:spPr>
          <a:xfrm>
            <a:off x="7362825" y="3238500"/>
            <a:ext cx="41052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</a:t>
            </a:r>
            <a:endParaRPr lang="en-US" sz="825" dirty="0"/>
          </a:p>
        </p:txBody>
      </p:sp>
      <p:sp>
        <p:nvSpPr>
          <p:cNvPr id="16" name="Text 13"/>
          <p:cNvSpPr/>
          <p:nvPr/>
        </p:nvSpPr>
        <p:spPr>
          <a:xfrm>
            <a:off x="7362825" y="3371850"/>
            <a:ext cx="4105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362825" y="3724275"/>
            <a:ext cx="4105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post-COGS, post-hosting.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72325" y="4171950"/>
            <a:ext cx="4486275" cy="942975"/>
          </a:xfrm>
          <a:prstGeom prst="roundRect">
            <a:avLst>
              <a:gd name="adj" fmla="val 27426"/>
            </a:avLst>
          </a:prstGeom>
          <a:solidFill>
            <a:srgbClr val="1E1E3F"/>
          </a:solidFill>
          <a:ln/>
        </p:spPr>
      </p:sp>
      <p:sp>
        <p:nvSpPr>
          <p:cNvPr id="19" name="Text 16"/>
          <p:cNvSpPr/>
          <p:nvPr/>
        </p:nvSpPr>
        <p:spPr>
          <a:xfrm>
            <a:off x="7362825" y="4324350"/>
            <a:ext cx="41052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PAYBACK</a:t>
            </a:r>
            <a:endParaRPr lang="en-US" sz="825" dirty="0"/>
          </a:p>
        </p:txBody>
      </p:sp>
      <p:sp>
        <p:nvSpPr>
          <p:cNvPr id="20" name="Text 17"/>
          <p:cNvSpPr/>
          <p:nvPr/>
        </p:nvSpPr>
        <p:spPr>
          <a:xfrm>
            <a:off x="7362825" y="4457700"/>
            <a:ext cx="4105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mo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7362825" y="4810125"/>
            <a:ext cx="41052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new ACV / blended CAC.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33400" y="5305425"/>
            <a:ext cx="11125200" cy="790575"/>
          </a:xfrm>
          <a:prstGeom prst="roundRect">
            <a:avLst>
              <a:gd name="adj" fmla="val 39019"/>
            </a:avLst>
          </a:prstGeom>
          <a:solidFill>
            <a:srgbClr val="14142B"/>
          </a:solidFill>
          <a:ln/>
        </p:spPr>
      </p:sp>
      <p:sp>
        <p:nvSpPr>
          <p:cNvPr id="23" name="Text 20"/>
          <p:cNvSpPr/>
          <p:nvPr/>
        </p:nvSpPr>
        <p:spPr>
          <a:xfrm>
            <a:off x="800100" y="5476875"/>
            <a:ext cx="10591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i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pitch was 'replace the platform team'. We assumed marketing. Two quarters in, we did.</a:t>
            </a:r>
            <a:endParaRPr lang="en-US" sz="1650" dirty="0"/>
          </a:p>
        </p:txBody>
      </p:sp>
      <p:sp>
        <p:nvSpPr>
          <p:cNvPr id="24" name="Shape 21"/>
          <p:cNvSpPr/>
          <p:nvPr/>
        </p:nvSpPr>
        <p:spPr>
          <a:xfrm>
            <a:off x="800100" y="5734050"/>
            <a:ext cx="209550" cy="209550"/>
          </a:xfrm>
          <a:prstGeom prst="roundRect">
            <a:avLst>
              <a:gd name="adj" fmla="val 436364"/>
            </a:avLst>
          </a:prstGeom>
          <a:solidFill>
            <a:srgbClr val="2EE6CA"/>
          </a:solidFill>
          <a:ln/>
        </p:spPr>
      </p:sp>
      <p:sp>
        <p:nvSpPr>
          <p:cNvPr id="25" name="Text 22"/>
          <p:cNvSpPr/>
          <p:nvPr/>
        </p:nvSpPr>
        <p:spPr>
          <a:xfrm>
            <a:off x="819150" y="5781675"/>
            <a:ext cx="171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0B0B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</a:t>
            </a:r>
            <a:endParaRPr lang="en-US" sz="825" dirty="0"/>
          </a:p>
        </p:txBody>
      </p:sp>
      <p:sp>
        <p:nvSpPr>
          <p:cNvPr id="26" name="Text 23"/>
          <p:cNvSpPr/>
          <p:nvPr/>
        </p:nvSpPr>
        <p:spPr>
          <a:xfrm>
            <a:off x="1123950" y="5772150"/>
            <a:ext cx="102679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Nadia Okonkwo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VP Engineering · Maple Health (5,200 employees)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8B8BA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800100"/>
            <a:ext cx="114300" cy="28575"/>
          </a:xfrm>
          <a:prstGeom prst="rect">
            <a:avLst/>
          </a:prstGeom>
          <a:solidFill>
            <a:srgbClr val="2EE6CA"/>
          </a:solidFill>
          <a:ln/>
        </p:spPr>
      </p:sp>
      <p:sp>
        <p:nvSpPr>
          <p:cNvPr id="3" name="Text 1"/>
          <p:cNvSpPr/>
          <p:nvPr/>
        </p:nvSpPr>
        <p:spPr>
          <a:xfrm>
            <a:off x="723900" y="762000"/>
            <a:ext cx="109347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TEAM &amp; ASK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33400" y="942975"/>
            <a:ext cx="1112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that already shipped this twice.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33400" y="13906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Founding team has run release infrastructure at two unicorns. The technical core is two people who wrote pipelines for 10,000-engineer orgs and then rewrote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3400" y="2009775"/>
            <a:ext cx="533400" cy="533400"/>
          </a:xfrm>
          <a:prstGeom prst="roundRect">
            <a:avLst>
              <a:gd name="adj" fmla="val 171429"/>
            </a:avLst>
          </a:prstGeom>
          <a:solidFill>
            <a:srgbClr val="7C5CF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171700"/>
            <a:ext cx="228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2057400"/>
            <a:ext cx="5153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Jin Park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05575" y="2114550"/>
            <a:ext cx="51530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CEO · ex-Stripe payments platform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57300" y="2286000"/>
            <a:ext cx="104013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and ran the deploy infrastructure for Stripe's billing surface. 9 years at companies between 50 and 5,000 engineers.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3400" y="2714625"/>
            <a:ext cx="533400" cy="533400"/>
          </a:xfrm>
          <a:prstGeom prst="roundRect">
            <a:avLst>
              <a:gd name="adj" fmla="val 171429"/>
            </a:avLst>
          </a:prstGeom>
          <a:solidFill>
            <a:srgbClr val="7C5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876550"/>
            <a:ext cx="228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257300" y="2762250"/>
            <a:ext cx="5153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Rohan Mehra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05575" y="2819400"/>
            <a:ext cx="51530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CTO · ex-Cloudflare workers runtime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57300" y="2990850"/>
            <a:ext cx="104013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Wrote the canary controller that ships every Cloudflare Workers release. Co-author of the SRE chapter on progressive delivery.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33400" y="3419475"/>
            <a:ext cx="533400" cy="533400"/>
          </a:xfrm>
          <a:prstGeom prst="roundRect">
            <a:avLst>
              <a:gd name="adj" fmla="val 171429"/>
            </a:avLst>
          </a:prstGeom>
          <a:solidFill>
            <a:srgbClr val="7C5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581400"/>
            <a:ext cx="228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257300" y="3467100"/>
            <a:ext cx="5153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 Lindqvist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575" y="3524250"/>
            <a:ext cx="51530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B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VP Product · ex-Datadog observability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57300" y="3695700"/>
            <a:ext cx="104013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Led the Service Catalogue and incident-management surfaces. Carried two of the team's three highest-NPS launches in 2024.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3400" y="4219575"/>
            <a:ext cx="6677025" cy="1085850"/>
          </a:xfrm>
          <a:prstGeom prst="roundRect">
            <a:avLst>
              <a:gd name="adj" fmla="val 20683"/>
            </a:avLst>
          </a:prstGeom>
          <a:solidFill>
            <a:srgbClr val="7C5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00100" y="4429125"/>
            <a:ext cx="61436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25" b="1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 · SERIES A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800100" y="4629150"/>
            <a:ext cx="29813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5F5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$18M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3962400" y="4781550"/>
            <a:ext cx="29813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5F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led by a single partner, 18-month runway, two strategic SaaS angels reserved.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400925" y="4219575"/>
            <a:ext cx="4257675" cy="1085850"/>
          </a:xfrm>
          <a:prstGeom prst="roundRect">
            <a:avLst>
              <a:gd name="adj" fmla="val 20683"/>
            </a:avLst>
          </a:prstGeom>
          <a:solidFill>
            <a:srgbClr val="222244"/>
          </a:solidFill>
          <a:ln/>
        </p:spPr>
      </p:sp>
      <p:sp>
        <p:nvSpPr>
          <p:cNvPr id="26" name="Text 24"/>
          <p:cNvSpPr/>
          <p:nvPr/>
        </p:nvSpPr>
        <p:spPr>
          <a:xfrm>
            <a:off x="7629525" y="4429125"/>
            <a:ext cx="3810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2EE6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OF FUNDS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7629525" y="4591050"/>
            <a:ext cx="381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55%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engineering hires (8 senior IC),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GTM, 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20%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9C9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infra + compliance (SOC 2 Type II).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5151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8B8BA8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2026-05-13T04:45:51Z</dcterms:created>
  <dcterms:modified xsi:type="dcterms:W3CDTF">2026-05-13T04:45:51Z</dcterms:modified>
</cp:coreProperties>
</file>