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0" cy="6858000"/>
          </a:xfrm>
          <a:prstGeom prst="rect">
            <a:avLst/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381000"/>
            <a:ext cx="2667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WORKSHOP</a:t>
            </a:r>
            <a:endParaRPr lang="en-US" sz="8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342900"/>
            <a:ext cx="47625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· BUILDER 101  ·  HANDS-ON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429500" y="342900"/>
            <a:ext cx="43053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MORNING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381000" y="552450"/>
            <a:ext cx="113538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6" name="Shape 4"/>
          <p:cNvSpPr/>
          <p:nvPr/>
        </p:nvSpPr>
        <p:spPr>
          <a:xfrm>
            <a:off x="381000" y="6438900"/>
            <a:ext cx="113538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7" name="Text 5"/>
          <p:cNvSpPr/>
          <p:nvPr/>
        </p:nvSpPr>
        <p:spPr>
          <a:xfrm>
            <a:off x="381000" y="6553200"/>
            <a:ext cx="47625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builder-workshop.slideglance.dev  ·  ask in #ws-builder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7810500" y="2286000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05000" y="1952625"/>
            <a:ext cx="9525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SLIDEGLANCE · WORKSHOP</a:t>
            </a:r>
            <a:endParaRPr lang="en-US" sz="825" dirty="0"/>
          </a:p>
        </p:txBody>
      </p:sp>
      <p:sp>
        <p:nvSpPr>
          <p:cNvPr id="4" name="Text 1"/>
          <p:cNvSpPr/>
          <p:nvPr/>
        </p:nvSpPr>
        <p:spPr>
          <a:xfrm>
            <a:off x="1905000" y="2247900"/>
            <a:ext cx="9525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Builder 101.</a:t>
            </a:r>
            <a:endParaRPr lang="en-US" sz="4500" dirty="0"/>
          </a:p>
        </p:txBody>
      </p:sp>
      <p:sp>
        <p:nvSpPr>
          <p:cNvPr id="5" name="Text 2"/>
          <p:cNvSpPr/>
          <p:nvPr/>
        </p:nvSpPr>
        <p:spPr>
          <a:xfrm>
            <a:off x="1905000" y="306705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XML to a deck in one morning.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905000" y="3743325"/>
            <a:ext cx="609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hands-on tutorial in five parts. By the end of this session you will have authored, styled, and built a four-slide deck using the same primitives this very deck was made of.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4762500"/>
            <a:ext cx="2867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DURATION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1905000" y="4905375"/>
            <a:ext cx="28670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hours · 5 parts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000625" y="4752975"/>
            <a:ext cx="9525" cy="34290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10" name="Text 7"/>
          <p:cNvSpPr/>
          <p:nvPr/>
        </p:nvSpPr>
        <p:spPr>
          <a:xfrm>
            <a:off x="5238750" y="4762500"/>
            <a:ext cx="2876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PREREQS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5238750" y="4905375"/>
            <a:ext cx="287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text editor. Node 22.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4850" y="4752975"/>
            <a:ext cx="9525" cy="34290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13" name="Text 10"/>
          <p:cNvSpPr/>
          <p:nvPr/>
        </p:nvSpPr>
        <p:spPr>
          <a:xfrm>
            <a:off x="8562975" y="4762500"/>
            <a:ext cx="2867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825" dirty="0"/>
          </a:p>
        </p:txBody>
      </p:sp>
      <p:sp>
        <p:nvSpPr>
          <p:cNvPr id="14" name="Text 11"/>
          <p:cNvSpPr/>
          <p:nvPr/>
        </p:nvSpPr>
        <p:spPr>
          <a:xfrm>
            <a:off x="8562975" y="4905375"/>
            <a:ext cx="28670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Lecture · live code · exercise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6096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561975" y="676275"/>
            <a:ext cx="2095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895350" y="685800"/>
            <a:ext cx="10763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1 · OVERVIEW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33400" y="933450"/>
            <a:ext cx="11125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four primitives you'll use all day.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3400" y="1333500"/>
            <a:ext cx="781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of @slideglance/builder is composed from four ideas. Memorize these and the rest of the day is just practice.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8" name="Shape 6"/>
          <p:cNvSpPr/>
          <p:nvPr/>
        </p:nvSpPr>
        <p:spPr>
          <a:xfrm>
            <a:off x="533400" y="2028825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F6C42"/>
          </a:solidFill>
          <a:ln/>
        </p:spPr>
      </p:sp>
      <p:sp>
        <p:nvSpPr>
          <p:cNvPr id="9" name="Text 7"/>
          <p:cNvSpPr/>
          <p:nvPr/>
        </p:nvSpPr>
        <p:spPr>
          <a:xfrm>
            <a:off x="609600" y="2114550"/>
            <a:ext cx="15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71550" y="2028825"/>
            <a:ext cx="5686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Containers stack content.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71550" y="2238375"/>
            <a:ext cx="5686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VStack stacks children vertically; HStack arranges them in a row. Both honour Flex-style gap, padding, alignItems.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533400" y="266700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F6C42"/>
          </a:solidFill>
          <a:ln/>
        </p:spPr>
      </p:sp>
      <p:sp>
        <p:nvSpPr>
          <p:cNvPr id="13" name="Text 11"/>
          <p:cNvSpPr/>
          <p:nvPr/>
        </p:nvSpPr>
        <p:spPr>
          <a:xfrm>
            <a:off x="600075" y="2752725"/>
            <a:ext cx="171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1550" y="2667000"/>
            <a:ext cx="5686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Styles centralize visual choices.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71550" y="2876550"/>
            <a:ext cx="5686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color, font, and rule lives in a Style. Body content references them by class= name, never by literal hex.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533400" y="331470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F6C42"/>
          </a:solidFill>
          <a:ln/>
        </p:spPr>
      </p:sp>
      <p:sp>
        <p:nvSpPr>
          <p:cNvPr id="17" name="Text 15"/>
          <p:cNvSpPr/>
          <p:nvPr/>
        </p:nvSpPr>
        <p:spPr>
          <a:xfrm>
            <a:off x="600075" y="3400425"/>
            <a:ext cx="171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71550" y="3314700"/>
            <a:ext cx="5686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macros.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1550" y="3524250"/>
            <a:ext cx="5686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wrap a stack of nodes in a reusable shape. A &lt;Use&gt; substitutes attributes into placeholders like {title}.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533400" y="3952875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F6C42"/>
          </a:solidFill>
          <a:ln/>
        </p:spPr>
      </p:sp>
      <p:sp>
        <p:nvSpPr>
          <p:cNvPr id="21" name="Text 19"/>
          <p:cNvSpPr/>
          <p:nvPr/>
        </p:nvSpPr>
        <p:spPr>
          <a:xfrm>
            <a:off x="600075" y="4038600"/>
            <a:ext cx="171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71550" y="3952875"/>
            <a:ext cx="5686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Masters are page chrome.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71550" y="4162425"/>
            <a:ext cx="5686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slide picks a Master; the master paints the running header, footer, and slide number behind the slide content.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6838950" y="2028825"/>
            <a:ext cx="9525" cy="243840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25" name="Text 23"/>
          <p:cNvSpPr/>
          <p:nvPr/>
        </p:nvSpPr>
        <p:spPr>
          <a:xfrm>
            <a:off x="7038975" y="2028825"/>
            <a:ext cx="46196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toolkit by the end of the day.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7038975" y="2409825"/>
            <a:ext cx="4619625" cy="866775"/>
          </a:xfrm>
          <a:prstGeom prst="roundRect">
            <a:avLst>
              <a:gd name="adj" fmla="val 23186"/>
            </a:avLst>
          </a:prstGeom>
          <a:solidFill>
            <a:srgbClr val="C6EBE3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2325" y="250507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7229475" y="2571750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6EB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572375" y="2505075"/>
            <a:ext cx="3952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  ·  HEADS-UP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72375" y="2657475"/>
            <a:ext cx="395287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build one shared deck across the whole workshop. Each part adds one primitive — by Part 5 the deck has its own master, template family, and chapter files.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7038975" y="3409950"/>
            <a:ext cx="4619625" cy="685800"/>
          </a:xfrm>
          <a:prstGeom prst="roundRect">
            <a:avLst>
              <a:gd name="adj" fmla="val 37037"/>
            </a:avLst>
          </a:prstGeom>
          <a:solidFill>
            <a:srgbClr val="FEF6CE"/>
          </a:solidFill>
          <a:ln/>
        </p:spPr>
      </p:sp>
      <p:sp>
        <p:nvSpPr>
          <p:cNvPr id="32" name="Shape 30"/>
          <p:cNvSpPr/>
          <p:nvPr/>
        </p:nvSpPr>
        <p:spPr>
          <a:xfrm>
            <a:off x="7172325" y="35052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54D0E"/>
          </a:solidFill>
          <a:ln/>
        </p:spPr>
      </p:sp>
      <p:sp>
        <p:nvSpPr>
          <p:cNvPr id="33" name="Text 31"/>
          <p:cNvSpPr/>
          <p:nvPr/>
        </p:nvSpPr>
        <p:spPr>
          <a:xfrm>
            <a:off x="7229475" y="3571875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EF6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!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72375" y="3505200"/>
            <a:ext cx="3952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 ·  HOUSEKEEPING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572375" y="3657600"/>
            <a:ext cx="395287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blocks fit on three lines. If yours wraps, your style ramp is too small — increase the font and re-flow the content.</a:t>
            </a:r>
            <a:endParaRPr lang="en-US" sz="9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6096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542925" y="676275"/>
            <a:ext cx="247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895350" y="685800"/>
            <a:ext cx="10763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2 · STYLES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33400" y="933450"/>
            <a:ext cx="11125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first. Hex literals never.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3400" y="1333500"/>
            <a:ext cx="781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style sheet is the visual contract for the entire deck. Define every color, font, and rule in one place; everything downstream references them by name.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2028825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a token.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33400" y="2409825"/>
            <a:ext cx="6448425" cy="952500"/>
          </a:xfrm>
          <a:prstGeom prst="roundRect">
            <a:avLst>
              <a:gd name="adj" fmla="val 15360"/>
            </a:avLst>
          </a:prstGeom>
          <a:solidFill>
            <a:srgbClr val="2A2118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" y="25050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styles/colors.xml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6750" y="2657475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&lt;Styles&gt;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6750" y="28098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&lt;Style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"bg-coral"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backgroundColor=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"EF6C42"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6750" y="29718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&lt;Style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"t-coral"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color=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"EF6C42"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6750" y="31242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&lt;/Styles&gt;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3400" y="3552825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anywhere.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533400" y="3943350"/>
            <a:ext cx="6448425" cy="638175"/>
          </a:xfrm>
          <a:prstGeom prst="roundRect">
            <a:avLst>
              <a:gd name="adj" fmla="val 34217"/>
            </a:avLst>
          </a:prstGeom>
          <a:solidFill>
            <a:srgbClr val="2A2118"/>
          </a:solidFill>
          <a:ln/>
        </p:spPr>
      </p:sp>
      <p:sp>
        <p:nvSpPr>
          <p:cNvPr id="17" name="Text 15"/>
          <p:cNvSpPr/>
          <p:nvPr/>
        </p:nvSpPr>
        <p:spPr>
          <a:xfrm>
            <a:off x="666750" y="4038600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any chapter 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6750" y="41910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&lt;VStack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class=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"bg-coral"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"100"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h=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"100"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6750" y="43434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&lt;Text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class=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"t-coral"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highlight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&lt;/Text&gt;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172325" y="2028825"/>
            <a:ext cx="9525" cy="255270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21" name="Shape 19"/>
          <p:cNvSpPr/>
          <p:nvPr/>
        </p:nvSpPr>
        <p:spPr>
          <a:xfrm>
            <a:off x="7372350" y="2028825"/>
            <a:ext cx="4286250" cy="866775"/>
          </a:xfrm>
          <a:prstGeom prst="roundRect">
            <a:avLst>
              <a:gd name="adj" fmla="val 23186"/>
            </a:avLst>
          </a:prstGeom>
          <a:solidFill>
            <a:srgbClr val="C6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505700" y="212407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7562850" y="2190750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6EB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5750" y="2124075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  ·  WHY THIS HELPS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905750" y="2276475"/>
            <a:ext cx="361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brand changes — and it will — you touch one file. The other 30 in your deck pick up the change because they reference the token, not the hex.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7372350" y="3028950"/>
            <a:ext cx="4286250" cy="857250"/>
          </a:xfrm>
          <a:prstGeom prst="roundRect">
            <a:avLst>
              <a:gd name="adj" fmla="val 23704"/>
            </a:avLst>
          </a:prstGeom>
          <a:solidFill>
            <a:srgbClr val="FEF6CE"/>
          </a:solidFill>
          <a:ln/>
        </p:spPr>
      </p:sp>
      <p:sp>
        <p:nvSpPr>
          <p:cNvPr id="27" name="Shape 25"/>
          <p:cNvSpPr/>
          <p:nvPr/>
        </p:nvSpPr>
        <p:spPr>
          <a:xfrm>
            <a:off x="7505700" y="31242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54D0E"/>
          </a:solidFill>
          <a:ln/>
        </p:spPr>
      </p:sp>
      <p:sp>
        <p:nvSpPr>
          <p:cNvPr id="28" name="Text 26"/>
          <p:cNvSpPr/>
          <p:nvPr/>
        </p:nvSpPr>
        <p:spPr>
          <a:xfrm>
            <a:off x="7562850" y="3190875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EF6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!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05750" y="312420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 ·  STYLE CHEAT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05750" y="3276600"/>
            <a:ext cx="3619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class= can stack multiple Style names separated by spaces. The first wins on conflicts. Use this for utility-style additive composition.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533400" y="4714875"/>
            <a:ext cx="11125200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EF6C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3900" y="4848225"/>
            <a:ext cx="266700" cy="266700"/>
          </a:xfrm>
          <a:prstGeom prst="rect">
            <a:avLst/>
          </a:prstGeom>
          <a:solidFill>
            <a:srgbClr val="EF6C42"/>
          </a:solidFill>
          <a:ln/>
        </p:spPr>
      </p:sp>
      <p:sp>
        <p:nvSpPr>
          <p:cNvPr id="33" name="Shape 31"/>
          <p:cNvSpPr/>
          <p:nvPr/>
        </p:nvSpPr>
        <p:spPr>
          <a:xfrm>
            <a:off x="723900" y="4848225"/>
            <a:ext cx="266700" cy="266700"/>
          </a:xfrm>
          <a:prstGeom prst="ellipse">
            <a:avLst/>
          </a:prstGeom>
          <a:solidFill>
            <a:srgbClr val="EF6C42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" y="4905375"/>
            <a:ext cx="152400" cy="1524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085850" y="4914900"/>
            <a:ext cx="49625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EXERCISE · 1</a:t>
            </a:r>
            <a:endParaRPr lang="en-US" sz="975" dirty="0"/>
          </a:p>
        </p:txBody>
      </p:sp>
      <p:sp>
        <p:nvSpPr>
          <p:cNvPr id="36" name="Text 33"/>
          <p:cNvSpPr/>
          <p:nvPr/>
        </p:nvSpPr>
        <p:spPr>
          <a:xfrm>
            <a:off x="6143625" y="4914900"/>
            <a:ext cx="53244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⏱ 12 min</a:t>
            </a:r>
            <a:endParaRPr lang="en-US" sz="825" dirty="0"/>
          </a:p>
        </p:txBody>
      </p:sp>
      <p:sp>
        <p:nvSpPr>
          <p:cNvPr id="37" name="Text 34"/>
          <p:cNvSpPr/>
          <p:nvPr/>
        </p:nvSpPr>
        <p:spPr>
          <a:xfrm>
            <a:off x="723900" y="5191125"/>
            <a:ext cx="10744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6-token palette.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723900" y="5495925"/>
            <a:ext cx="107442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deck and define six bg-* and three t-* styles using the colors of your favourite local coffee shop. Apply each to a 50×50 square in chapters/playground.xml.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723900" y="5743575"/>
            <a:ext cx="10744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40" name="Text 37"/>
          <p:cNvSpPr/>
          <p:nvPr/>
        </p:nvSpPr>
        <p:spPr>
          <a:xfrm>
            <a:off x="723900" y="5829300"/>
            <a:ext cx="107442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  ·  A row of six coloured squares + three colored text labels.</a:t>
            </a:r>
            <a:endParaRPr lang="en-US" sz="8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6096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542925" y="676275"/>
            <a:ext cx="247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895350" y="685800"/>
            <a:ext cx="10763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3 · TEMPLATES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33400" y="933450"/>
            <a:ext cx="11125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pasting layouts.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3400" y="1333500"/>
            <a:ext cx="781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two slides share a layout, the layout belongs in a template. A template is a stack of nodes with named placeholders. A &lt;Use&gt; passes attributes; &lt;Slot&gt; carries children.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2028825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 a template.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33400" y="2409825"/>
            <a:ext cx="6448425" cy="1266825"/>
          </a:xfrm>
          <a:prstGeom prst="roundRect">
            <a:avLst>
              <a:gd name="adj" fmla="val 8683"/>
            </a:avLst>
          </a:prstGeom>
          <a:solidFill>
            <a:srgbClr val="2A2118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" y="25050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templates/card.xml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6750" y="2657475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&lt;Template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"metric"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6750" y="28098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&lt;VStack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class=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"bg-card"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padding=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"16"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6750" y="29718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&lt;Text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class=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"eyebrow"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{label}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&lt;/Text&gt;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6750" y="31242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&lt;Text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class=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"title"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{value}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&lt;/Text&gt;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6750" y="32861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&lt;/VStack&gt;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6750" y="3438525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&lt;/Template&gt;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3400" y="3867150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Invoke it.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33400" y="4257675"/>
            <a:ext cx="6448425" cy="638175"/>
          </a:xfrm>
          <a:prstGeom prst="roundRect">
            <a:avLst>
              <a:gd name="adj" fmla="val 34217"/>
            </a:avLst>
          </a:prstGeom>
          <a:solidFill>
            <a:srgbClr val="2A2118"/>
          </a:solidFill>
          <a:ln/>
        </p:spPr>
      </p:sp>
      <p:sp>
        <p:nvSpPr>
          <p:cNvPr id="19" name="Text 17"/>
          <p:cNvSpPr/>
          <p:nvPr/>
        </p:nvSpPr>
        <p:spPr>
          <a:xfrm>
            <a:off x="666750" y="43529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any chapter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6750" y="45053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&lt;Use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template=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"metric"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label=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"USERS"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value=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"4.2M"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6750" y="46577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&lt;Use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template=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"metric"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label=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"REV"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value=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"$1.8M"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72325" y="2028825"/>
            <a:ext cx="9525" cy="28670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23" name="Text 21"/>
          <p:cNvSpPr/>
          <p:nvPr/>
        </p:nvSpPr>
        <p:spPr>
          <a:xfrm>
            <a:off x="7372350" y="2028825"/>
            <a:ext cx="4286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Slots carry content.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7372350" y="2409825"/>
            <a:ext cx="4286250" cy="1266825"/>
          </a:xfrm>
          <a:prstGeom prst="roundRect">
            <a:avLst>
              <a:gd name="adj" fmla="val 8683"/>
            </a:avLst>
          </a:prstGeom>
          <a:solidFill>
            <a:srgbClr val="2A2118"/>
          </a:solidFill>
          <a:ln/>
        </p:spPr>
      </p:sp>
      <p:sp>
        <p:nvSpPr>
          <p:cNvPr id="25" name="Text 23"/>
          <p:cNvSpPr/>
          <p:nvPr/>
        </p:nvSpPr>
        <p:spPr>
          <a:xfrm>
            <a:off x="7505700" y="2505075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multi-child template invocation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05700" y="2657475"/>
            <a:ext cx="40195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&lt;Use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template=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"feature"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title=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"Why fast?"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505700" y="2809875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&lt;Slot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"default"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05700" y="2971800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&lt;Text&gt;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Body paragraph 1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&lt;/Text&gt;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05700" y="3124200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&lt;Text&gt;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Body paragraph 2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&lt;/Text&gt;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05700" y="3286125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&lt;/Slot&gt;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505700" y="3438525"/>
            <a:ext cx="40195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&lt;/Use&gt;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372350" y="3810000"/>
            <a:ext cx="4286250" cy="866775"/>
          </a:xfrm>
          <a:prstGeom prst="roundRect">
            <a:avLst>
              <a:gd name="adj" fmla="val 23186"/>
            </a:avLst>
          </a:prstGeom>
          <a:solidFill>
            <a:srgbClr val="C6EBE3"/>
          </a:solidFill>
          <a:ln/>
        </p:spPr>
      </p:sp>
      <p:sp>
        <p:nvSpPr>
          <p:cNvPr id="33" name="Shape 31"/>
          <p:cNvSpPr/>
          <p:nvPr/>
        </p:nvSpPr>
        <p:spPr>
          <a:xfrm>
            <a:off x="7505700" y="390525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F766E"/>
          </a:solidFill>
          <a:ln/>
        </p:spPr>
      </p:sp>
      <p:sp>
        <p:nvSpPr>
          <p:cNvPr id="34" name="Text 32"/>
          <p:cNvSpPr/>
          <p:nvPr/>
        </p:nvSpPr>
        <p:spPr>
          <a:xfrm>
            <a:off x="7562850" y="3971925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6EB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05750" y="390525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  ·  RULE OF THREE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05750" y="4057650"/>
            <a:ext cx="361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third time you copy-paste a layout block, stop and extract it as a template. The fourth time is a refactor; the third is prevention.</a:t>
            </a:r>
            <a:endParaRPr lang="en-US" sz="9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6096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542925" y="676275"/>
            <a:ext cx="247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895350" y="685800"/>
            <a:ext cx="10763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4 · MASTERS &amp; BUILD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33400" y="933450"/>
            <a:ext cx="11125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chrome belongs to the master, not the slide.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3400" y="1333500"/>
            <a:ext cx="781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master paints behind every slide that picks it. Running headers, footers, and slide-number elements live there so each individual slide stays focused on content.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2028825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 a master.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33400" y="2409825"/>
            <a:ext cx="6448425" cy="1266825"/>
          </a:xfrm>
          <a:prstGeom prst="roundRect">
            <a:avLst>
              <a:gd name="adj" fmla="val 8683"/>
            </a:avLst>
          </a:prstGeom>
          <a:solidFill>
            <a:srgbClr val="2A2118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" y="25050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templates/master.xml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6750" y="2657475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&lt;Master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"BODY"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backgroundColor=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"FFFBF5"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6750" y="280987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&lt;MasterText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x=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"40"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y=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"36"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"500"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h=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"14"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6750" y="29718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Builder 101 · running head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6750" y="3124200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&lt;/MasterText&gt;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6750" y="32861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&lt;SlideNumber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x=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"1170"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y=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"690"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/&gt;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6750" y="3438525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&lt;/Master&gt;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3400" y="3867150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it into a slide.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33400" y="4257675"/>
            <a:ext cx="6448425" cy="790575"/>
          </a:xfrm>
          <a:prstGeom prst="roundRect">
            <a:avLst>
              <a:gd name="adj" fmla="val 22296"/>
            </a:avLst>
          </a:prstGeom>
          <a:solidFill>
            <a:srgbClr val="2A2118"/>
          </a:solidFill>
          <a:ln/>
        </p:spPr>
      </p:sp>
      <p:sp>
        <p:nvSpPr>
          <p:cNvPr id="19" name="Text 17"/>
          <p:cNvSpPr/>
          <p:nvPr/>
        </p:nvSpPr>
        <p:spPr>
          <a:xfrm>
            <a:off x="666750" y="43529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chapters/*.xml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6750" y="45053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&lt;Slide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master=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"BODY"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6750" y="4657725"/>
            <a:ext cx="6191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&lt;VStack&gt;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... slide content ... </a:t>
            </a:r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&lt;/VStack&gt;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6750" y="4819650"/>
            <a:ext cx="619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&lt;/Slide&gt;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72325" y="2028825"/>
            <a:ext cx="9525" cy="350520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24" name="Text 22"/>
          <p:cNvSpPr/>
          <p:nvPr/>
        </p:nvSpPr>
        <p:spPr>
          <a:xfrm>
            <a:off x="7372350" y="2028825"/>
            <a:ext cx="4286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&amp; preview.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372350" y="2409825"/>
            <a:ext cx="4286250" cy="952500"/>
          </a:xfrm>
          <a:prstGeom prst="roundRect">
            <a:avLst>
              <a:gd name="adj" fmla="val 15360"/>
            </a:avLst>
          </a:prstGeom>
          <a:solidFill>
            <a:srgbClr val="2A2118"/>
          </a:solidFill>
          <a:ln/>
        </p:spPr>
      </p:sp>
      <p:sp>
        <p:nvSpPr>
          <p:cNvPr id="26" name="Text 24"/>
          <p:cNvSpPr/>
          <p:nvPr/>
        </p:nvSpPr>
        <p:spPr>
          <a:xfrm>
            <a:off x="7505700" y="2505075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18B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terminal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505700" y="2657475"/>
            <a:ext cx="40195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compile your deck.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05700" y="2809875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pnpm exec tsx build.ts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05700" y="2971800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open in the slideglance playground.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05700" y="3124200"/>
            <a:ext cx="4019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AEF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open output/deck.pptx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72350" y="3495675"/>
            <a:ext cx="4286250" cy="866775"/>
          </a:xfrm>
          <a:prstGeom prst="roundRect">
            <a:avLst>
              <a:gd name="adj" fmla="val 23186"/>
            </a:avLst>
          </a:prstGeom>
          <a:solidFill>
            <a:srgbClr val="FEF6CE"/>
          </a:solidFill>
          <a:ln/>
        </p:spPr>
      </p:sp>
      <p:sp>
        <p:nvSpPr>
          <p:cNvPr id="32" name="Shape 30"/>
          <p:cNvSpPr/>
          <p:nvPr/>
        </p:nvSpPr>
        <p:spPr>
          <a:xfrm>
            <a:off x="7505700" y="359092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54D0E"/>
          </a:solidFill>
          <a:ln/>
        </p:spPr>
      </p:sp>
      <p:sp>
        <p:nvSpPr>
          <p:cNvPr id="33" name="Text 31"/>
          <p:cNvSpPr/>
          <p:nvPr/>
        </p:nvSpPr>
        <p:spPr>
          <a:xfrm>
            <a:off x="7562850" y="3657600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EF6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!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905750" y="3590925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 ·  DON'T FORGET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05750" y="3743325"/>
            <a:ext cx="361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script reads main.sgx and resolves &lt;Import&gt; recursively. If a chapter doesn't show, check that main.sgx imports it.</a:t>
            </a:r>
            <a:endParaRPr lang="en-US" sz="975" dirty="0"/>
          </a:p>
        </p:txBody>
      </p:sp>
      <p:sp>
        <p:nvSpPr>
          <p:cNvPr id="36" name="Shape 34"/>
          <p:cNvSpPr/>
          <p:nvPr/>
        </p:nvSpPr>
        <p:spPr>
          <a:xfrm>
            <a:off x="7372350" y="4495800"/>
            <a:ext cx="4286250" cy="1038225"/>
          </a:xfrm>
          <a:prstGeom prst="roundRect">
            <a:avLst>
              <a:gd name="adj" fmla="val 16160"/>
            </a:avLst>
          </a:prstGeom>
          <a:solidFill>
            <a:srgbClr val="C6EBE3"/>
          </a:solidFill>
          <a:ln/>
        </p:spPr>
      </p:sp>
      <p:sp>
        <p:nvSpPr>
          <p:cNvPr id="37" name="Shape 35"/>
          <p:cNvSpPr/>
          <p:nvPr/>
        </p:nvSpPr>
        <p:spPr>
          <a:xfrm>
            <a:off x="7505700" y="459105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F766E"/>
          </a:solidFill>
          <a:ln/>
        </p:spPr>
      </p:sp>
      <p:sp>
        <p:nvSpPr>
          <p:cNvPr id="38" name="Text 36"/>
          <p:cNvSpPr/>
          <p:nvPr/>
        </p:nvSpPr>
        <p:spPr>
          <a:xfrm>
            <a:off x="7562850" y="4657725"/>
            <a:ext cx="142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6EB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905750" y="459105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  ·  WHEN TO MAKE A NEW MASTER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905750" y="4743450"/>
            <a:ext cx="361950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layouts that disagree on chrome (e.g. a cover with no header) deserve two masters. Two layouts that disagree on content density share one master and differ in their page template.</a:t>
            </a:r>
            <a:endParaRPr lang="en-US" sz="9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60960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F6C42"/>
          </a:solidFill>
          <a:ln/>
        </p:spPr>
      </p:sp>
      <p:sp>
        <p:nvSpPr>
          <p:cNvPr id="3" name="Text 1"/>
          <p:cNvSpPr/>
          <p:nvPr/>
        </p:nvSpPr>
        <p:spPr>
          <a:xfrm>
            <a:off x="542925" y="676275"/>
            <a:ext cx="2476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B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895350" y="685800"/>
            <a:ext cx="10763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5 · CAPSTONE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33400" y="933450"/>
            <a:ext cx="11125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a four-slide deck. Yours.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3400" y="1333500"/>
            <a:ext cx="781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everything from parts 1-4. You have one hour. The goal is not a beautiful deck — the goal is a deck whose styles, templates, and master you can defend in code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8" name="Shape 6"/>
          <p:cNvSpPr/>
          <p:nvPr/>
        </p:nvSpPr>
        <p:spPr>
          <a:xfrm>
            <a:off x="533400" y="2028825"/>
            <a:ext cx="5467350" cy="1752600"/>
          </a:xfrm>
          <a:prstGeom prst="roundRect">
            <a:avLst>
              <a:gd name="adj" fmla="val 6805"/>
            </a:avLst>
          </a:prstGeom>
          <a:solidFill>
            <a:srgbClr val="FFFFFF"/>
          </a:solidFill>
          <a:ln w="19050">
            <a:solidFill>
              <a:srgbClr val="EF6C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3900" y="2162175"/>
            <a:ext cx="266700" cy="266700"/>
          </a:xfrm>
          <a:prstGeom prst="rect">
            <a:avLst/>
          </a:prstGeom>
          <a:solidFill>
            <a:srgbClr val="EF6C42"/>
          </a:solidFill>
          <a:ln/>
        </p:spPr>
      </p:sp>
      <p:sp>
        <p:nvSpPr>
          <p:cNvPr id="10" name="Shape 8"/>
          <p:cNvSpPr/>
          <p:nvPr/>
        </p:nvSpPr>
        <p:spPr>
          <a:xfrm>
            <a:off x="723900" y="2162175"/>
            <a:ext cx="266700" cy="266700"/>
          </a:xfrm>
          <a:prstGeom prst="ellipse">
            <a:avLst/>
          </a:prstGeom>
          <a:solidFill>
            <a:srgbClr val="EF6C42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" y="2219325"/>
            <a:ext cx="152400" cy="152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85850" y="2228850"/>
            <a:ext cx="2133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EXERCISE · 2A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3314700" y="2228850"/>
            <a:ext cx="2495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⏱ 20 min</a:t>
            </a:r>
            <a:endParaRPr lang="en-US" sz="825" dirty="0"/>
          </a:p>
        </p:txBody>
      </p:sp>
      <p:sp>
        <p:nvSpPr>
          <p:cNvPr id="14" name="Text 11"/>
          <p:cNvSpPr/>
          <p:nvPr/>
        </p:nvSpPr>
        <p:spPr>
          <a:xfrm>
            <a:off x="723900" y="2505075"/>
            <a:ext cx="5086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topic that is not 'about builder'.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3900" y="2809875"/>
            <a:ext cx="50863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four-slide deck on something you actually care about — a hobby, a side project, a city. The constraint forces the design to argue with real content.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23900" y="3228975"/>
            <a:ext cx="508635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17" name="Text 14"/>
          <p:cNvSpPr/>
          <p:nvPr/>
        </p:nvSpPr>
        <p:spPr>
          <a:xfrm>
            <a:off x="723900" y="3314700"/>
            <a:ext cx="50863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  ·  One sentence: 'It's about ___, for ___.'</a:t>
            </a:r>
            <a:endParaRPr lang="en-US" sz="825" dirty="0"/>
          </a:p>
        </p:txBody>
      </p:sp>
      <p:sp>
        <p:nvSpPr>
          <p:cNvPr id="18" name="Shape 15"/>
          <p:cNvSpPr/>
          <p:nvPr/>
        </p:nvSpPr>
        <p:spPr>
          <a:xfrm>
            <a:off x="6191250" y="2028825"/>
            <a:ext cx="5467350" cy="1752600"/>
          </a:xfrm>
          <a:prstGeom prst="roundRect">
            <a:avLst>
              <a:gd name="adj" fmla="val 6805"/>
            </a:avLst>
          </a:prstGeom>
          <a:solidFill>
            <a:srgbClr val="FFFFFF"/>
          </a:solidFill>
          <a:ln w="19050">
            <a:solidFill>
              <a:srgbClr val="EF6C4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81750" y="2162175"/>
            <a:ext cx="266700" cy="266700"/>
          </a:xfrm>
          <a:prstGeom prst="rect">
            <a:avLst/>
          </a:prstGeom>
          <a:solidFill>
            <a:srgbClr val="EF6C42"/>
          </a:solidFill>
          <a:ln/>
        </p:spPr>
      </p:sp>
      <p:sp>
        <p:nvSpPr>
          <p:cNvPr id="20" name="Shape 17"/>
          <p:cNvSpPr/>
          <p:nvPr/>
        </p:nvSpPr>
        <p:spPr>
          <a:xfrm>
            <a:off x="6381750" y="2162175"/>
            <a:ext cx="266700" cy="266700"/>
          </a:xfrm>
          <a:prstGeom prst="ellipse">
            <a:avLst/>
          </a:prstGeom>
          <a:solidFill>
            <a:srgbClr val="EF6C42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2219325"/>
            <a:ext cx="152400" cy="1524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743700" y="2228850"/>
            <a:ext cx="2133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EF6C4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EXERCISE · 2B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8972550" y="2228850"/>
            <a:ext cx="2486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⏱ 40 min</a:t>
            </a:r>
            <a:endParaRPr lang="en-US" sz="825" dirty="0"/>
          </a:p>
        </p:txBody>
      </p:sp>
      <p:sp>
        <p:nvSpPr>
          <p:cNvPr id="24" name="Text 20"/>
          <p:cNvSpPr/>
          <p:nvPr/>
        </p:nvSpPr>
        <p:spPr>
          <a:xfrm>
            <a:off x="6381750" y="2495550"/>
            <a:ext cx="5076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it bottom-up: styles → master → templates → slides.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381750" y="3019425"/>
            <a:ext cx="507682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copy-pasting between slides. If two slides need the same layout, that's a template. If the template needs the same chrome, that's a master.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381750" y="3438525"/>
            <a:ext cx="508635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27" name="Text 23"/>
          <p:cNvSpPr/>
          <p:nvPr/>
        </p:nvSpPr>
        <p:spPr>
          <a:xfrm>
            <a:off x="6381750" y="3524250"/>
            <a:ext cx="50768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  ·  A built .pptx + your three source files (styles, master, page template).</a:t>
            </a:r>
            <a:endParaRPr lang="en-US" sz="825" dirty="0"/>
          </a:p>
        </p:txBody>
      </p:sp>
      <p:sp>
        <p:nvSpPr>
          <p:cNvPr id="28" name="Shape 24"/>
          <p:cNvSpPr/>
          <p:nvPr/>
        </p:nvSpPr>
        <p:spPr>
          <a:xfrm>
            <a:off x="533400" y="3914775"/>
            <a:ext cx="11125200" cy="514350"/>
          </a:xfrm>
          <a:prstGeom prst="roundRect">
            <a:avLst>
              <a:gd name="adj" fmla="val 65844"/>
            </a:avLst>
          </a:prstGeom>
          <a:solidFill>
            <a:srgbClr val="C6EBE3"/>
          </a:solidFill>
          <a:ln/>
        </p:spPr>
      </p:sp>
      <p:sp>
        <p:nvSpPr>
          <p:cNvPr id="29" name="Shape 25"/>
          <p:cNvSpPr/>
          <p:nvPr/>
        </p:nvSpPr>
        <p:spPr>
          <a:xfrm>
            <a:off x="666750" y="401002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F766E"/>
          </a:solidFill>
          <a:ln/>
        </p:spPr>
      </p:sp>
      <p:sp>
        <p:nvSpPr>
          <p:cNvPr id="30" name="Text 26"/>
          <p:cNvSpPr/>
          <p:nvPr/>
        </p:nvSpPr>
        <p:spPr>
          <a:xfrm>
            <a:off x="723900" y="4076700"/>
            <a:ext cx="15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6EB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66800" y="4010025"/>
            <a:ext cx="104584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  ·  REVIEW PAIRINGS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066800" y="4162425"/>
            <a:ext cx="104584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with the person to your left. Five minutes per person — they read your XML aloud and you watch where they hesitate. Hesitation is the design feedback.</a:t>
            </a:r>
            <a:endParaRPr lang="en-US" sz="975" dirty="0"/>
          </a:p>
        </p:txBody>
      </p:sp>
      <p:sp>
        <p:nvSpPr>
          <p:cNvPr id="33" name="Shape 29"/>
          <p:cNvSpPr/>
          <p:nvPr/>
        </p:nvSpPr>
        <p:spPr>
          <a:xfrm>
            <a:off x="533400" y="4619625"/>
            <a:ext cx="11125200" cy="9525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34" name="Text 30"/>
          <p:cNvSpPr/>
          <p:nvPr/>
        </p:nvSpPr>
        <p:spPr>
          <a:xfrm>
            <a:off x="533400" y="4819650"/>
            <a:ext cx="5562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Wrap-up.</a:t>
            </a:r>
            <a:endParaRPr lang="en-US" sz="1650" dirty="0"/>
          </a:p>
        </p:txBody>
      </p:sp>
      <p:sp>
        <p:nvSpPr>
          <p:cNvPr id="35" name="Text 31"/>
          <p:cNvSpPr/>
          <p:nvPr/>
        </p:nvSpPr>
        <p:spPr>
          <a:xfrm>
            <a:off x="533400" y="5124450"/>
            <a:ext cx="5562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covered 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primitives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containers, styles, templates, masters — and built a deck end-to-end. You now have the same toolkit the @slideglance/builder reference deck uses; the only difference is scale.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6286500" y="4819650"/>
            <a:ext cx="9525" cy="1428750"/>
          </a:xfrm>
          <a:prstGeom prst="rect">
            <a:avLst/>
          </a:prstGeom>
          <a:solidFill>
            <a:srgbClr val="E8D8C0"/>
          </a:solidFill>
          <a:ln/>
        </p:spPr>
      </p:sp>
      <p:sp>
        <p:nvSpPr>
          <p:cNvPr id="37" name="Text 33"/>
          <p:cNvSpPr/>
          <p:nvPr/>
        </p:nvSpPr>
        <p:spPr>
          <a:xfrm>
            <a:off x="6486525" y="4819650"/>
            <a:ext cx="51720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A2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</a:t>
            </a:r>
            <a:endParaRPr lang="en-US" sz="1650" dirty="0"/>
          </a:p>
        </p:txBody>
      </p:sp>
      <p:sp>
        <p:nvSpPr>
          <p:cNvPr id="38" name="Shape 34"/>
          <p:cNvSpPr/>
          <p:nvPr/>
        </p:nvSpPr>
        <p:spPr>
          <a:xfrm>
            <a:off x="6486525" y="518160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EF6C42"/>
          </a:solidFill>
          <a:ln/>
        </p:spPr>
      </p:sp>
      <p:sp>
        <p:nvSpPr>
          <p:cNvPr id="39" name="Text 35"/>
          <p:cNvSpPr/>
          <p:nvPr/>
        </p:nvSpPr>
        <p:spPr>
          <a:xfrm>
            <a:off x="6638925" y="5124450"/>
            <a:ext cx="50196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Composition · &lt;Import&gt;, &lt;Foreach&gt;, &lt;If&gt;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6638925" y="5314950"/>
            <a:ext cx="50196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of the next workshop, Builder 201.</a:t>
            </a:r>
            <a:endParaRPr lang="en-US" sz="975" dirty="0"/>
          </a:p>
        </p:txBody>
      </p:sp>
      <p:sp>
        <p:nvSpPr>
          <p:cNvPr id="41" name="Shape 37"/>
          <p:cNvSpPr/>
          <p:nvPr/>
        </p:nvSpPr>
        <p:spPr>
          <a:xfrm>
            <a:off x="6486525" y="558165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EF6C42"/>
          </a:solidFill>
          <a:ln/>
        </p:spPr>
      </p:sp>
      <p:sp>
        <p:nvSpPr>
          <p:cNvPr id="42" name="Text 38"/>
          <p:cNvSpPr/>
          <p:nvPr/>
        </p:nvSpPr>
        <p:spPr>
          <a:xfrm>
            <a:off x="6638925" y="5524500"/>
            <a:ext cx="50196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Pixel polish · the equalize preprocessor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6638925" y="5715000"/>
            <a:ext cx="50196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201, after lunch.</a:t>
            </a:r>
            <a:endParaRPr lang="en-US" sz="975" dirty="0"/>
          </a:p>
        </p:txBody>
      </p:sp>
      <p:sp>
        <p:nvSpPr>
          <p:cNvPr id="44" name="Shape 40"/>
          <p:cNvSpPr/>
          <p:nvPr/>
        </p:nvSpPr>
        <p:spPr>
          <a:xfrm>
            <a:off x="6486525" y="598170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EF6C42"/>
          </a:solidFill>
          <a:ln/>
        </p:spPr>
      </p:sp>
      <p:sp>
        <p:nvSpPr>
          <p:cNvPr id="45" name="Text 41"/>
          <p:cNvSpPr/>
          <p:nvPr/>
        </p:nvSpPr>
        <p:spPr>
          <a:xfrm>
            <a:off x="6638925" y="5924550"/>
            <a:ext cx="50196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637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Embedding in your own product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6638925" y="6115050"/>
            <a:ext cx="50196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5" dirty="0">
                <a:solidFill>
                  <a:srgbClr val="6E5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301, the builder/viewer course.</a:t>
            </a:r>
            <a:endParaRPr lang="en-US" sz="9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2A211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2026-05-13T04:45:52Z</dcterms:created>
  <dcterms:modified xsi:type="dcterms:W3CDTF">2026-05-13T04:45:52Z</dcterms:modified>
</cp:coreProperties>
</file>