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1000"/>
            <a:ext cx="5715000" cy="15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5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ATLAS · TECHNICAL DESIGN DOCUMENT  ·  v0.4 DRAFT</a:t>
            </a:r>
            <a:endParaRPr lang="en-US" sz="8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C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4800"/>
            <a:ext cx="4762500" cy="133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TDD · ATLAS GATEWAY  ·  REV 0.4 (DRAFT)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7429500" y="304800"/>
            <a:ext cx="4305300" cy="133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· ENGINEERING REVIEW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57200" y="495300"/>
            <a:ext cx="1127760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6477000"/>
            <a:ext cx="1127760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91300"/>
            <a:ext cx="3810000" cy="133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atlas-tdd.confluence  ·  reviewers: @platform-leads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143500" y="6591300"/>
            <a:ext cx="1905000" cy="133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 · 2026.05.10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5200" y="6553200"/>
            <a:ext cx="6096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25">
                <a:solidFill>
                  <a:srgbClr val="111827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5200" y="6553200"/>
            <a:ext cx="6096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25">
                <a:solidFill>
                  <a:srgbClr val="111827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2543175"/>
            <a:ext cx="133350" cy="28575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2505075"/>
            <a:ext cx="104394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DESIGN DOCUMENT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62000" y="2819400"/>
            <a:ext cx="106680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Atlas Gateway · v0.4 (draft).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62000" y="3533775"/>
            <a:ext cx="742950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unified ingress, auth, and routing layer to replace the five regional load balancers currently in production. Targets a single deployment per region, an identical contract for North/South and East/West traffic, and removal of three side-band auth services.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62000" y="4600575"/>
            <a:ext cx="23241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62000" y="4733925"/>
            <a:ext cx="23241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Yuki Tanaka · Distinguished Eng.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3305175" y="4581525"/>
            <a:ext cx="9525" cy="3429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9" name="Text 7"/>
          <p:cNvSpPr/>
          <p:nvPr/>
        </p:nvSpPr>
        <p:spPr>
          <a:xfrm>
            <a:off x="3543300" y="4600575"/>
            <a:ext cx="23241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REVIEWERS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543300" y="4733925"/>
            <a:ext cx="23241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leads · SRE · Sec</a:t>
            </a:r>
            <a:endParaRPr lang="en-US" sz="975" dirty="0"/>
          </a:p>
        </p:txBody>
      </p:sp>
      <p:sp>
        <p:nvSpPr>
          <p:cNvPr id="11" name="Shape 9"/>
          <p:cNvSpPr/>
          <p:nvPr/>
        </p:nvSpPr>
        <p:spPr>
          <a:xfrm>
            <a:off x="6096000" y="4581525"/>
            <a:ext cx="9525" cy="3429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2" name="Text 10"/>
          <p:cNvSpPr/>
          <p:nvPr/>
        </p:nvSpPr>
        <p:spPr>
          <a:xfrm>
            <a:off x="6334125" y="4600575"/>
            <a:ext cx="23241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334125" y="4733925"/>
            <a:ext cx="23241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9240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 · pending technical review</a:t>
            </a:r>
            <a:endParaRPr lang="en-US" sz="975" dirty="0"/>
          </a:p>
        </p:txBody>
      </p:sp>
      <p:sp>
        <p:nvSpPr>
          <p:cNvPr id="14" name="Shape 12"/>
          <p:cNvSpPr/>
          <p:nvPr/>
        </p:nvSpPr>
        <p:spPr>
          <a:xfrm>
            <a:off x="8877300" y="4581525"/>
            <a:ext cx="9525" cy="3429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5" name="Text 13"/>
          <p:cNvSpPr/>
          <p:nvPr/>
        </p:nvSpPr>
        <p:spPr>
          <a:xfrm>
            <a:off x="9115425" y="4600575"/>
            <a:ext cx="23241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115425" y="4733925"/>
            <a:ext cx="23241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0.4 · 2026-05-10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800100"/>
            <a:ext cx="133350" cy="1905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62000"/>
            <a:ext cx="108966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CONTEXT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33400" y="914400"/>
            <a:ext cx="111252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run today, and what's wrong with it.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533400" y="1295400"/>
            <a:ext cx="78105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five regional load balancers each have their own configuration language, deployment pipeline, and auth interceptor. Drift between regions is now the most common cause of customer-visible 5xx.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33400" y="1885950"/>
            <a:ext cx="1112520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7" name="Text 5"/>
          <p:cNvSpPr/>
          <p:nvPr/>
        </p:nvSpPr>
        <p:spPr>
          <a:xfrm>
            <a:off x="533400" y="2085975"/>
            <a:ext cx="55626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533400" y="2428875"/>
            <a:ext cx="17145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REGIONAL INSTANCES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381250" y="2428875"/>
            <a:ext cx="37147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(us-east, us-west, eu-central, ap-south, ap-northeast)</a:t>
            </a:r>
            <a:endParaRPr lang="en-US" sz="975" dirty="0"/>
          </a:p>
        </p:txBody>
      </p:sp>
      <p:sp>
        <p:nvSpPr>
          <p:cNvPr id="10" name="Shape 8"/>
          <p:cNvSpPr/>
          <p:nvPr/>
        </p:nvSpPr>
        <p:spPr>
          <a:xfrm>
            <a:off x="533400" y="2609850"/>
            <a:ext cx="556260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1" name="Text 9"/>
          <p:cNvSpPr/>
          <p:nvPr/>
        </p:nvSpPr>
        <p:spPr>
          <a:xfrm>
            <a:off x="533400" y="2714625"/>
            <a:ext cx="17145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 SOURCES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381250" y="2714625"/>
            <a:ext cx="37147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— Terraform, YAML overlays, runtime API patch</a:t>
            </a:r>
            <a:endParaRPr lang="en-US" sz="975" dirty="0"/>
          </a:p>
        </p:txBody>
      </p:sp>
      <p:sp>
        <p:nvSpPr>
          <p:cNvPr id="13" name="Shape 11"/>
          <p:cNvSpPr/>
          <p:nvPr/>
        </p:nvSpPr>
        <p:spPr>
          <a:xfrm>
            <a:off x="533400" y="2895600"/>
            <a:ext cx="556260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4" name="Text 12"/>
          <p:cNvSpPr/>
          <p:nvPr/>
        </p:nvSpPr>
        <p:spPr>
          <a:xfrm>
            <a:off x="533400" y="3000375"/>
            <a:ext cx="17145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 INTERCEPTORS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381250" y="3000375"/>
            <a:ext cx="37147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sidecars per region · written in 2 languages</a:t>
            </a:r>
            <a:endParaRPr lang="en-US" sz="975" dirty="0"/>
          </a:p>
        </p:txBody>
      </p:sp>
      <p:sp>
        <p:nvSpPr>
          <p:cNvPr id="16" name="Shape 14"/>
          <p:cNvSpPr/>
          <p:nvPr/>
        </p:nvSpPr>
        <p:spPr>
          <a:xfrm>
            <a:off x="533400" y="3181350"/>
            <a:ext cx="556260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7" name="Text 15"/>
          <p:cNvSpPr/>
          <p:nvPr/>
        </p:nvSpPr>
        <p:spPr>
          <a:xfrm>
            <a:off x="533400" y="3286125"/>
            <a:ext cx="17145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 90 DAYS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381250" y="3286125"/>
            <a:ext cx="37147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incidents, 9 attributed to inter-region drift</a:t>
            </a:r>
            <a:endParaRPr lang="en-US" sz="975" dirty="0"/>
          </a:p>
        </p:txBody>
      </p:sp>
      <p:sp>
        <p:nvSpPr>
          <p:cNvPr id="19" name="Shape 17"/>
          <p:cNvSpPr/>
          <p:nvPr/>
        </p:nvSpPr>
        <p:spPr>
          <a:xfrm>
            <a:off x="533400" y="3467100"/>
            <a:ext cx="556260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0" name="Shape 18"/>
          <p:cNvSpPr/>
          <p:nvPr/>
        </p:nvSpPr>
        <p:spPr>
          <a:xfrm>
            <a:off x="6324600" y="2085975"/>
            <a:ext cx="9525" cy="238125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1" name="Text 19"/>
          <p:cNvSpPr/>
          <p:nvPr/>
        </p:nvSpPr>
        <p:spPr>
          <a:xfrm>
            <a:off x="6562725" y="2085975"/>
            <a:ext cx="50958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Goals.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6562725" y="2486025"/>
            <a:ext cx="76200" cy="76200"/>
          </a:xfrm>
          <a:prstGeom prst="roundRect">
            <a:avLst>
              <a:gd name="adj" fmla="val 600000"/>
            </a:avLst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6734175" y="2428875"/>
            <a:ext cx="49244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declarative configuration source per region — no runtime patch.</a:t>
            </a:r>
            <a:endParaRPr lang="en-US" sz="975" dirty="0"/>
          </a:p>
        </p:txBody>
      </p:sp>
      <p:sp>
        <p:nvSpPr>
          <p:cNvPr id="24" name="Shape 22"/>
          <p:cNvSpPr/>
          <p:nvPr/>
        </p:nvSpPr>
        <p:spPr>
          <a:xfrm>
            <a:off x="6562725" y="2762250"/>
            <a:ext cx="76200" cy="76200"/>
          </a:xfrm>
          <a:prstGeom prst="roundRect">
            <a:avLst>
              <a:gd name="adj" fmla="val 600000"/>
            </a:avLst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6734175" y="2705100"/>
            <a:ext cx="49244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Identical contract for N/S (customer ingress) and E/W (service mesh) traffic.</a:t>
            </a:r>
            <a:endParaRPr lang="en-US" sz="975" dirty="0"/>
          </a:p>
        </p:txBody>
      </p:sp>
      <p:sp>
        <p:nvSpPr>
          <p:cNvPr id="26" name="Shape 24"/>
          <p:cNvSpPr/>
          <p:nvPr/>
        </p:nvSpPr>
        <p:spPr>
          <a:xfrm>
            <a:off x="6562725" y="3028950"/>
            <a:ext cx="76200" cy="76200"/>
          </a:xfrm>
          <a:prstGeom prst="roundRect">
            <a:avLst>
              <a:gd name="adj" fmla="val 600000"/>
            </a:avLst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6734175" y="2971800"/>
            <a:ext cx="4924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canonical auth path. Sidecars deprecated within two quarters.</a:t>
            </a:r>
            <a:endParaRPr lang="en-US" sz="975" dirty="0"/>
          </a:p>
        </p:txBody>
      </p:sp>
      <p:sp>
        <p:nvSpPr>
          <p:cNvPr id="28" name="Shape 26"/>
          <p:cNvSpPr/>
          <p:nvPr/>
        </p:nvSpPr>
        <p:spPr>
          <a:xfrm>
            <a:off x="6562725" y="3295650"/>
            <a:ext cx="76200" cy="76200"/>
          </a:xfrm>
          <a:prstGeom prst="roundRect">
            <a:avLst>
              <a:gd name="adj" fmla="val 600000"/>
            </a:avLst>
          </a:prstGeom>
          <a:solidFill>
            <a:srgbClr val="2563EB"/>
          </a:solidFill>
          <a:ln/>
        </p:spPr>
      </p:sp>
      <p:sp>
        <p:nvSpPr>
          <p:cNvPr id="29" name="Text 27"/>
          <p:cNvSpPr/>
          <p:nvPr/>
        </p:nvSpPr>
        <p:spPr>
          <a:xfrm>
            <a:off x="6734175" y="3238500"/>
            <a:ext cx="49244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customer-visible downtime during migration; rollback in &lt; 10 minutes.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6562725" y="3638550"/>
            <a:ext cx="50958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Non-goals.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6562725" y="3981450"/>
            <a:ext cx="50958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in scope: layer-7 rate limiting (already lives in the WAF tier), cross-region replication of any data plane, or migration of the long-deprecated </a:t>
            </a:r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legacy/ws</a:t>
            </a:r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WebSocket gateway (separate workstream).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5200" y="6553200"/>
            <a:ext cx="6096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25">
                <a:solidFill>
                  <a:srgbClr val="111827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800100"/>
            <a:ext cx="133350" cy="1905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62000"/>
            <a:ext cx="108966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ARCHITECTURE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33400" y="914400"/>
            <a:ext cx="111252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control plane. Three data-plane shards. Identical contracts.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533400" y="1295400"/>
            <a:ext cx="78105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Atlas's control plane owns configuration distribution and identity-token resolution. Each region runs three independent data-plane shards behind a regional Atlas director.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33400" y="1885950"/>
            <a:ext cx="1112520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7" name="Shape 5"/>
          <p:cNvSpPr/>
          <p:nvPr/>
        </p:nvSpPr>
        <p:spPr>
          <a:xfrm>
            <a:off x="5295900" y="2085975"/>
            <a:ext cx="2095500" cy="438150"/>
          </a:xfrm>
          <a:prstGeom prst="roundRect">
            <a:avLst>
              <a:gd name="adj" fmla="val 72590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410200" y="2181225"/>
            <a:ext cx="18669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atlas-control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10200" y="2333625"/>
            <a:ext cx="18669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DBEA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 + identity · global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676400" y="2733675"/>
            <a:ext cx="1524000" cy="438150"/>
          </a:xfrm>
          <a:prstGeom prst="roundRect">
            <a:avLst>
              <a:gd name="adj" fmla="val 72590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90700" y="2828925"/>
            <a:ext cx="1295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director · us-east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790700" y="2981325"/>
            <a:ext cx="12954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client + admission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581400" y="2733675"/>
            <a:ext cx="1524000" cy="438150"/>
          </a:xfrm>
          <a:prstGeom prst="roundRect">
            <a:avLst>
              <a:gd name="adj" fmla="val 72590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95700" y="2828925"/>
            <a:ext cx="1295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director · eu-central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95700" y="2981325"/>
            <a:ext cx="12954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client + admission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676900" y="2733675"/>
            <a:ext cx="1524000" cy="438150"/>
          </a:xfrm>
          <a:prstGeom prst="roundRect">
            <a:avLst>
              <a:gd name="adj" fmla="val 72590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91200" y="2828925"/>
            <a:ext cx="1295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director · ap-south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791200" y="2981325"/>
            <a:ext cx="12954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client + admission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7772400" y="2733675"/>
            <a:ext cx="1524000" cy="438150"/>
          </a:xfrm>
          <a:prstGeom prst="roundRect">
            <a:avLst>
              <a:gd name="adj" fmla="val 72590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86700" y="2828925"/>
            <a:ext cx="1295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director · ap-ne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86700" y="2981325"/>
            <a:ext cx="12954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client + admission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9867900" y="2733675"/>
            <a:ext cx="1524000" cy="438150"/>
          </a:xfrm>
          <a:prstGeom prst="roundRect">
            <a:avLst>
              <a:gd name="adj" fmla="val 72590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82200" y="2828925"/>
            <a:ext cx="1295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director · us-west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982200" y="2981325"/>
            <a:ext cx="12954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client + admission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1676400" y="3381375"/>
            <a:ext cx="1524000" cy="419100"/>
          </a:xfrm>
          <a:prstGeom prst="roundRect">
            <a:avLst>
              <a:gd name="adj" fmla="val 79339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790700" y="3476625"/>
            <a:ext cx="1295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edge · 3 shards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790700" y="3609975"/>
            <a:ext cx="12954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ingress + auth + routing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581400" y="3381375"/>
            <a:ext cx="1524000" cy="419100"/>
          </a:xfrm>
          <a:prstGeom prst="roundRect">
            <a:avLst>
              <a:gd name="adj" fmla="val 79339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95700" y="3476625"/>
            <a:ext cx="1295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edge · 3 shards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95700" y="3609975"/>
            <a:ext cx="12954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ingress + auth + routing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676900" y="3381375"/>
            <a:ext cx="1524000" cy="419100"/>
          </a:xfrm>
          <a:prstGeom prst="roundRect">
            <a:avLst>
              <a:gd name="adj" fmla="val 79339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91200" y="3476625"/>
            <a:ext cx="1295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edge · 3 shards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791200" y="3609975"/>
            <a:ext cx="12954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ingress + auth + routing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7772400" y="3381375"/>
            <a:ext cx="1524000" cy="419100"/>
          </a:xfrm>
          <a:prstGeom prst="roundRect">
            <a:avLst>
              <a:gd name="adj" fmla="val 79339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86700" y="3476625"/>
            <a:ext cx="1295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edge · 3 shards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886700" y="3609975"/>
            <a:ext cx="12954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ingress + auth + routing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9867900" y="3381375"/>
            <a:ext cx="1524000" cy="419100"/>
          </a:xfrm>
          <a:prstGeom prst="roundRect">
            <a:avLst>
              <a:gd name="adj" fmla="val 79339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982200" y="3476625"/>
            <a:ext cx="1295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edge · 3 shards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982200" y="3609975"/>
            <a:ext cx="12954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ingress + auth + routing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 flipH="1">
            <a:off x="2438400" y="2543175"/>
            <a:ext cx="3905250" cy="19050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H="1">
            <a:off x="4343400" y="2543175"/>
            <a:ext cx="2000250" cy="19050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43650" y="2543175"/>
            <a:ext cx="95250" cy="19050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43650" y="2543175"/>
            <a:ext cx="2190750" cy="19050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43650" y="2543175"/>
            <a:ext cx="4286250" cy="19050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438400" y="3190875"/>
            <a:ext cx="0" cy="19050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343400" y="3190875"/>
            <a:ext cx="0" cy="19050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38900" y="3190875"/>
            <a:ext cx="0" cy="19050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534400" y="3190875"/>
            <a:ext cx="0" cy="19050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629900" y="3190875"/>
            <a:ext cx="0" cy="19050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33400" y="3952875"/>
            <a:ext cx="1112520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51" name="Text 49"/>
          <p:cNvSpPr/>
          <p:nvPr/>
        </p:nvSpPr>
        <p:spPr>
          <a:xfrm>
            <a:off x="533400" y="4114800"/>
            <a:ext cx="64579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Interfaces.</a:t>
            </a:r>
            <a:endParaRPr lang="en-US" sz="16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400" y="4419600"/>
          <a:ext cx="6457950" cy="952500"/>
        </p:xfrm>
        <a:graphic>
          <a:graphicData uri="http://schemas.openxmlformats.org/drawingml/2006/table">
            <a:tbl>
              <a:tblPr/>
              <a:tblGrid>
                <a:gridCol w="1420749"/>
                <a:gridCol w="1420749"/>
                <a:gridCol w="1420749"/>
                <a:gridCol w="2195703"/>
              </a:tblGrid>
              <a:tr h="190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11827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Interface</a:t>
                      </a:r>
                      <a:endParaRPr lang="en-US" sz="7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11827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From → To</a:t>
                      </a:r>
                      <a:endParaRPr lang="en-US" sz="7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11827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Protocol</a:t>
                      </a:r>
                      <a:endParaRPr lang="en-US" sz="7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11827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Notes</a:t>
                      </a:r>
                      <a:endParaRPr lang="en-US" sz="7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config-stream</a:t>
                      </a:r>
                      <a:endParaRPr lang="en-US" sz="7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control → director</a:t>
                      </a:r>
                      <a:endParaRPr lang="en-US" sz="7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gRPC server-stream</a:t>
                      </a:r>
                      <a:endParaRPr lang="en-US" sz="7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snapshots + deltas, mTLS, &lt; 200ms p99</a:t>
                      </a:r>
                      <a:endParaRPr lang="en-US" sz="7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identity-resolve</a:t>
                      </a:r>
                      <a:endParaRPr lang="en-US" sz="7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director → control</a:t>
                      </a:r>
                      <a:endParaRPr lang="en-US" sz="7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gRPC unary</a:t>
                      </a:r>
                      <a:endParaRPr lang="en-US" sz="7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cached per-region, &lt; 5ms p50</a:t>
                      </a:r>
                      <a:endParaRPr lang="en-US" sz="7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admission-push</a:t>
                      </a:r>
                      <a:endParaRPr lang="en-US" sz="7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director → edge</a:t>
                      </a:r>
                      <a:endParaRPr lang="en-US" sz="7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HTTP/2 push</a:t>
                      </a:r>
                      <a:endParaRPr lang="en-US" sz="7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batched, eventually-consistent, &lt; 1s p99</a:t>
                      </a:r>
                      <a:endParaRPr lang="en-US" sz="7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customer-ingress</a:t>
                      </a:r>
                      <a:endParaRPr lang="en-US" sz="7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user → edge</a:t>
                      </a:r>
                      <a:endParaRPr lang="en-US" sz="7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HTTPS / HTTP/3</a:t>
                      </a:r>
                      <a:endParaRPr lang="en-US" sz="7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public surface, terminating auth here</a:t>
                      </a:r>
                      <a:endParaRPr lang="en-US" sz="7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38100" marR="38100" marT="38100" marB="3810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3" name="Shape 50"/>
          <p:cNvSpPr/>
          <p:nvPr/>
        </p:nvSpPr>
        <p:spPr>
          <a:xfrm>
            <a:off x="7172325" y="4114800"/>
            <a:ext cx="9525" cy="132397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54" name="Text 51"/>
          <p:cNvSpPr/>
          <p:nvPr/>
        </p:nvSpPr>
        <p:spPr>
          <a:xfrm>
            <a:off x="7372350" y="4114800"/>
            <a:ext cx="42862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plane scale.</a:t>
            </a:r>
            <a:endParaRPr lang="en-US" sz="1650" dirty="0"/>
          </a:p>
        </p:txBody>
      </p:sp>
      <p:sp>
        <p:nvSpPr>
          <p:cNvPr id="55" name="Text 52"/>
          <p:cNvSpPr/>
          <p:nvPr/>
        </p:nvSpPr>
        <p:spPr>
          <a:xfrm>
            <a:off x="7372350" y="4438650"/>
            <a:ext cx="17145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EDGE INSTANCES</a:t>
            </a:r>
            <a:endParaRPr lang="en-US" sz="750" dirty="0"/>
          </a:p>
        </p:txBody>
      </p:sp>
      <p:sp>
        <p:nvSpPr>
          <p:cNvPr id="56" name="Text 53"/>
          <p:cNvSpPr/>
          <p:nvPr/>
        </p:nvSpPr>
        <p:spPr>
          <a:xfrm>
            <a:off x="9220200" y="4438650"/>
            <a:ext cx="24384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(3 × 5 regions), each 4 vCPU / 16 GB</a:t>
            </a:r>
            <a:endParaRPr lang="en-US" sz="975" dirty="0"/>
          </a:p>
        </p:txBody>
      </p:sp>
      <p:sp>
        <p:nvSpPr>
          <p:cNvPr id="57" name="Shape 54"/>
          <p:cNvSpPr/>
          <p:nvPr/>
        </p:nvSpPr>
        <p:spPr>
          <a:xfrm>
            <a:off x="7372350" y="4619625"/>
            <a:ext cx="428625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58" name="Text 55"/>
          <p:cNvSpPr/>
          <p:nvPr/>
        </p:nvSpPr>
        <p:spPr>
          <a:xfrm>
            <a:off x="7372350" y="4705350"/>
            <a:ext cx="17145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DIRECTOR INSTANCES</a:t>
            </a:r>
            <a:endParaRPr lang="en-US" sz="750" dirty="0"/>
          </a:p>
        </p:txBody>
      </p:sp>
      <p:sp>
        <p:nvSpPr>
          <p:cNvPr id="59" name="Text 56"/>
          <p:cNvSpPr/>
          <p:nvPr/>
        </p:nvSpPr>
        <p:spPr>
          <a:xfrm>
            <a:off x="9220200" y="4705350"/>
            <a:ext cx="24384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(2 × 5 regions, active/standby)</a:t>
            </a:r>
            <a:endParaRPr lang="en-US" sz="975" dirty="0"/>
          </a:p>
        </p:txBody>
      </p:sp>
      <p:sp>
        <p:nvSpPr>
          <p:cNvPr id="60" name="Shape 57"/>
          <p:cNvSpPr/>
          <p:nvPr/>
        </p:nvSpPr>
        <p:spPr>
          <a:xfrm>
            <a:off x="7372350" y="4886325"/>
            <a:ext cx="428625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1" name="Text 58"/>
          <p:cNvSpPr/>
          <p:nvPr/>
        </p:nvSpPr>
        <p:spPr>
          <a:xfrm>
            <a:off x="7372350" y="4972050"/>
            <a:ext cx="17145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PLANE</a:t>
            </a:r>
            <a:endParaRPr lang="en-US" sz="750" dirty="0"/>
          </a:p>
        </p:txBody>
      </p:sp>
      <p:sp>
        <p:nvSpPr>
          <p:cNvPr id="62" name="Text 59"/>
          <p:cNvSpPr/>
          <p:nvPr/>
        </p:nvSpPr>
        <p:spPr>
          <a:xfrm>
            <a:off x="9220200" y="4972050"/>
            <a:ext cx="24384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globally, leader-followers via Raft</a:t>
            </a:r>
            <a:endParaRPr lang="en-US" sz="975" dirty="0"/>
          </a:p>
        </p:txBody>
      </p:sp>
      <p:sp>
        <p:nvSpPr>
          <p:cNvPr id="63" name="Shape 60"/>
          <p:cNvSpPr/>
          <p:nvPr/>
        </p:nvSpPr>
        <p:spPr>
          <a:xfrm>
            <a:off x="7372350" y="5153025"/>
            <a:ext cx="428625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4" name="Text 61"/>
          <p:cNvSpPr/>
          <p:nvPr/>
        </p:nvSpPr>
        <p:spPr>
          <a:xfrm>
            <a:off x="7372350" y="5238750"/>
            <a:ext cx="17145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PEAK QPS</a:t>
            </a:r>
            <a:endParaRPr lang="en-US" sz="750" dirty="0"/>
          </a:p>
        </p:txBody>
      </p:sp>
      <p:sp>
        <p:nvSpPr>
          <p:cNvPr id="65" name="Text 62"/>
          <p:cNvSpPr/>
          <p:nvPr/>
        </p:nvSpPr>
        <p:spPr>
          <a:xfrm>
            <a:off x="9220200" y="5238750"/>
            <a:ext cx="24384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240k (vs. 90k today across 5 LBs)</a:t>
            </a:r>
            <a:endParaRPr lang="en-US" sz="975" dirty="0"/>
          </a:p>
        </p:txBody>
      </p:sp>
      <p:sp>
        <p:nvSpPr>
          <p:cNvPr id="66" name="Shape 63"/>
          <p:cNvSpPr/>
          <p:nvPr/>
        </p:nvSpPr>
        <p:spPr>
          <a:xfrm>
            <a:off x="7372350" y="5419725"/>
            <a:ext cx="428625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5200" y="6553200"/>
            <a:ext cx="6096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25">
                <a:solidFill>
                  <a:srgbClr val="111827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800100"/>
            <a:ext cx="133350" cy="1905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62000"/>
            <a:ext cx="108966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COMPARISON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33400" y="914400"/>
            <a:ext cx="111252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Build, buy, or extend?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533400" y="1295400"/>
            <a:ext cx="78105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options were investigated in the design phase. Each is summarised against the four criteria that the platform-leads forum agreed at the kickoff: operations, customer impact, cost, and migration risk.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33400" y="1885950"/>
            <a:ext cx="11125200" cy="9525"/>
          </a:xfrm>
          <a:prstGeom prst="rect">
            <a:avLst/>
          </a:prstGeom>
          <a:solidFill>
            <a:srgbClr val="D1D5DB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400" y="2085975"/>
          <a:ext cx="11125200" cy="1905000"/>
        </p:xfrm>
        <a:graphic>
          <a:graphicData uri="http://schemas.openxmlformats.org/drawingml/2006/table">
            <a:tbl>
              <a:tblPr/>
              <a:tblGrid>
                <a:gridCol w="2002536"/>
                <a:gridCol w="2447544"/>
                <a:gridCol w="2225040"/>
                <a:gridCol w="2225040"/>
                <a:gridCol w="2225040"/>
              </a:tblGrid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Criterion</a:t>
                      </a:r>
                      <a:endParaRPr lang="en-US" sz="825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5250" marR="95250" marT="95250" marB="9525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5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Atlas (build)</a:t>
                      </a:r>
                      <a:endParaRPr lang="en-US" sz="825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5250" marR="95250" marT="95250" marB="9525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5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Vendor-X (buy)</a:t>
                      </a:r>
                      <a:endParaRPr lang="en-US" sz="825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5250" marR="95250" marT="95250" marB="9525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5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Extend Envoy</a:t>
                      </a:r>
                      <a:endParaRPr lang="en-US" sz="825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5250" marR="95250" marT="95250" marB="9525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5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Status quo</a:t>
                      </a:r>
                      <a:endParaRPr lang="en-US" sz="825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5250" marR="95250" marT="95250" marB="9525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111827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Operational ergonomics</a:t>
                      </a:r>
                      <a:endParaRPr lang="en-US" sz="825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5250" marR="95250" marT="95250" marB="9525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5" b="1" dirty="0">
                          <a:solidFill>
                            <a:srgbClr val="166534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OK · one config</a:t>
                      </a:r>
                      <a:endParaRPr lang="en-US" sz="825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5250" marR="95250" marT="95250" marB="9525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5" b="1" dirty="0">
                          <a:solidFill>
                            <a:srgbClr val="166534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OK · their console</a:t>
                      </a:r>
                      <a:endParaRPr lang="en-US" sz="825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5250" marR="95250" marT="95250" marB="9525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5" b="1" dirty="0">
                          <a:solidFill>
                            <a:srgbClr val="92400E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WARN · YAML sprawl</a:t>
                      </a:r>
                      <a:endParaRPr lang="en-US" sz="825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5250" marR="95250" marT="95250" marB="9525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5" b="1" dirty="0">
                          <a:solidFill>
                            <a:srgbClr val="991B1B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BLOCK · 5 paths</a:t>
                      </a:r>
                      <a:endParaRPr lang="en-US" sz="825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5250" marR="95250" marT="95250" marB="9525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111827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Customer impact (downtime)</a:t>
                      </a:r>
                      <a:endParaRPr lang="en-US" sz="825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5250" marR="95250" marT="95250" marB="9525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5" b="1" dirty="0">
                          <a:solidFill>
                            <a:srgbClr val="166534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OK · phased, 0 min</a:t>
                      </a:r>
                      <a:endParaRPr lang="en-US" sz="825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5250" marR="95250" marT="95250" marB="9525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5" b="1" dirty="0">
                          <a:solidFill>
                            <a:srgbClr val="92400E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WARN · cutover</a:t>
                      </a:r>
                      <a:endParaRPr lang="en-US" sz="825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5250" marR="95250" marT="95250" marB="9525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5" b="1" dirty="0">
                          <a:solidFill>
                            <a:srgbClr val="166534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OK · in-place</a:t>
                      </a:r>
                      <a:endParaRPr lang="en-US" sz="825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5250" marR="95250" marT="95250" marB="9525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5" b="1" dirty="0">
                          <a:solidFill>
                            <a:srgbClr val="166534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OK · none</a:t>
                      </a:r>
                      <a:endParaRPr lang="en-US" sz="825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5250" marR="95250" marT="95250" marB="9525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111827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3-yr TCO (vs. status quo)</a:t>
                      </a:r>
                      <a:endParaRPr lang="en-US" sz="825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5250" marR="95250" marT="95250" marB="9525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5" b="1" dirty="0">
                          <a:solidFill>
                            <a:srgbClr val="166534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-26%</a:t>
                      </a:r>
                      <a:endParaRPr lang="en-US" sz="825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5250" marR="95250" marT="95250" marB="9525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5" b="1" dirty="0">
                          <a:solidFill>
                            <a:srgbClr val="991B1B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+38%</a:t>
                      </a:r>
                      <a:endParaRPr lang="en-US" sz="825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5250" marR="95250" marT="95250" marB="9525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5" b="1" dirty="0">
                          <a:solidFill>
                            <a:srgbClr val="166534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-12%</a:t>
                      </a:r>
                      <a:endParaRPr lang="en-US" sz="825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5250" marR="95250" marT="95250" marB="9525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5" dirty="0">
                          <a:solidFill>
                            <a:srgbClr val="6B728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0</a:t>
                      </a:r>
                      <a:endParaRPr lang="en-US" sz="825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5250" marR="95250" marT="95250" marB="9525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111827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Migration risk</a:t>
                      </a:r>
                      <a:endParaRPr lang="en-US" sz="825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5250" marR="95250" marT="95250" marB="9525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5" b="1" dirty="0">
                          <a:solidFill>
                            <a:srgbClr val="92400E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WARN · novel control plane</a:t>
                      </a:r>
                      <a:endParaRPr lang="en-US" sz="825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5250" marR="95250" marT="95250" marB="9525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5" b="1" dirty="0">
                          <a:solidFill>
                            <a:srgbClr val="991B1B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BLOCK · vendor dependence</a:t>
                      </a:r>
                      <a:endParaRPr lang="en-US" sz="825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5250" marR="95250" marT="95250" marB="9525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5" b="1" dirty="0">
                          <a:solidFill>
                            <a:srgbClr val="92400E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WARN · upstream churn</a:t>
                      </a:r>
                      <a:endParaRPr lang="en-US" sz="825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5250" marR="95250" marT="95250" marB="9525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5" b="1" dirty="0">
                          <a:solidFill>
                            <a:srgbClr val="991B1B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BLOCK · ongoing incidents</a:t>
                      </a:r>
                      <a:endParaRPr lang="en-US" sz="825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5250" marR="95250" marT="95250" marB="9525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33400" y="4276725"/>
            <a:ext cx="2705100" cy="152400"/>
          </a:xfrm>
          <a:prstGeom prst="roundRect">
            <a:avLst>
              <a:gd name="adj" fmla="val 600000"/>
            </a:avLst>
          </a:prstGeom>
          <a:solidFill>
            <a:srgbClr val="DCFCE7"/>
          </a:solidFill>
          <a:ln/>
        </p:spPr>
      </p:sp>
      <p:sp>
        <p:nvSpPr>
          <p:cNvPr id="9" name="Text 6"/>
          <p:cNvSpPr/>
          <p:nvPr/>
        </p:nvSpPr>
        <p:spPr>
          <a:xfrm>
            <a:off x="628650" y="4305300"/>
            <a:ext cx="25146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OK · proceed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371850" y="4276725"/>
            <a:ext cx="2705100" cy="152400"/>
          </a:xfrm>
          <a:prstGeom prst="roundRect">
            <a:avLst>
              <a:gd name="adj" fmla="val 600000"/>
            </a:avLst>
          </a:prstGeom>
          <a:solidFill>
            <a:srgbClr val="FEF3C7"/>
          </a:solidFill>
          <a:ln/>
        </p:spPr>
      </p:sp>
      <p:sp>
        <p:nvSpPr>
          <p:cNvPr id="11" name="Text 8"/>
          <p:cNvSpPr/>
          <p:nvPr/>
        </p:nvSpPr>
        <p:spPr>
          <a:xfrm>
            <a:off x="3467100" y="4305300"/>
            <a:ext cx="25146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9240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WARN · proceed with mitigation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6210300" y="4276725"/>
            <a:ext cx="2705100" cy="152400"/>
          </a:xfrm>
          <a:prstGeom prst="roundRect">
            <a:avLst>
              <a:gd name="adj" fmla="val 600000"/>
            </a:avLst>
          </a:prstGeom>
          <a:solidFill>
            <a:srgbClr val="FEE2E2"/>
          </a:solidFill>
          <a:ln/>
        </p:spPr>
      </p:sp>
      <p:sp>
        <p:nvSpPr>
          <p:cNvPr id="13" name="Text 10"/>
          <p:cNvSpPr/>
          <p:nvPr/>
        </p:nvSpPr>
        <p:spPr>
          <a:xfrm>
            <a:off x="6305550" y="4305300"/>
            <a:ext cx="25146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BLOCKER · rejected · do not pursue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9144000" y="4276725"/>
            <a:ext cx="25146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Cells follow the same semantic grade.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5200" y="6553200"/>
            <a:ext cx="6096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25">
                <a:solidFill>
                  <a:srgbClr val="111827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800100"/>
            <a:ext cx="133350" cy="1905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62000"/>
            <a:ext cx="108966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RISK &amp; PLAN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33400" y="914400"/>
            <a:ext cx="111252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 risks, owned, with explicit triggers.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533400" y="1295400"/>
            <a:ext cx="78105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risk has a designated owner, a mitigation, and a measurable trigger that escalates the risk one grade. The migration plan is sequenced so that an escalation in any single risk does not block the next milestone.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33400" y="1885950"/>
            <a:ext cx="11125200" cy="9525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7" name="Text 5"/>
          <p:cNvSpPr/>
          <p:nvPr/>
        </p:nvSpPr>
        <p:spPr>
          <a:xfrm>
            <a:off x="533400" y="2085975"/>
            <a:ext cx="64579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register.</a:t>
            </a:r>
            <a:endParaRPr lang="en-US" sz="16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400" y="2428875"/>
          <a:ext cx="6457950" cy="1466850"/>
        </p:xfrm>
        <a:graphic>
          <a:graphicData uri="http://schemas.openxmlformats.org/drawingml/2006/table">
            <a:tbl>
              <a:tblPr/>
              <a:tblGrid>
                <a:gridCol w="2712339"/>
                <a:gridCol w="1291590"/>
                <a:gridCol w="1291590"/>
                <a:gridCol w="1162431"/>
              </a:tblGrid>
              <a:tr h="2095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11827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Risk</a:t>
                      </a:r>
                      <a:endParaRPr lang="en-US" sz="7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7150" marR="57150" marT="57150" marB="5715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11827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Owner</a:t>
                      </a:r>
                      <a:endParaRPr lang="en-US" sz="7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7150" marR="57150" marT="57150" marB="5715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11827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Grade</a:t>
                      </a:r>
                      <a:endParaRPr lang="en-US" sz="7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7150" marR="57150" marT="57150" marB="5715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11827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Trigger</a:t>
                      </a:r>
                      <a:endParaRPr lang="en-US" sz="7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7150" marR="57150" marT="57150" marB="5715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Control plane Raft membership churn</a:t>
                      </a:r>
                      <a:endParaRPr lang="en-US" sz="7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7150" marR="57150" marT="57150" marB="5715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@yuki</a:t>
                      </a:r>
                      <a:endParaRPr lang="en-US" sz="7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7150" marR="57150" marT="57150" marB="5715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92400E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WARN</a:t>
                      </a:r>
                      <a:endParaRPr lang="en-US" sz="7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7150" marR="57150" marT="57150" marB="5715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&gt;3 elections / day</a:t>
                      </a:r>
                      <a:endParaRPr lang="en-US" sz="7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7150" marR="57150" marT="57150" marB="5715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Edge memory regression under HTTP/3 fan-out</a:t>
                      </a:r>
                      <a:endParaRPr lang="en-US" sz="7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7150" marR="57150" marT="57150" marB="5715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@marco</a:t>
                      </a:r>
                      <a:endParaRPr lang="en-US" sz="7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7150" marR="57150" marT="57150" marB="5715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66534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OK</a:t>
                      </a:r>
                      <a:endParaRPr lang="en-US" sz="7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7150" marR="57150" marT="57150" marB="5715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p95 &gt; 9 GB</a:t>
                      </a:r>
                      <a:endParaRPr lang="en-US" sz="7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7150" marR="57150" marT="57150" marB="5715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Vendor X SDK pin (admission-push interop)</a:t>
                      </a:r>
                      <a:endParaRPr lang="en-US" sz="7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7150" marR="57150" marT="57150" marB="5715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@hari</a:t>
                      </a:r>
                      <a:endParaRPr lang="en-US" sz="7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7150" marR="57150" marT="57150" marB="5715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92400E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WARN</a:t>
                      </a:r>
                      <a:endParaRPr lang="en-US" sz="7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7150" marR="57150" marT="57150" marB="5715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&gt;1 SDK CVE / month</a:t>
                      </a:r>
                      <a:endParaRPr lang="en-US" sz="7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7150" marR="57150" marT="57150" marB="5715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Legacy WAF rule incompat. (P1 customer)</a:t>
                      </a:r>
                      <a:endParaRPr lang="en-US" sz="7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7150" marR="57150" marT="57150" marB="5715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@joon</a:t>
                      </a:r>
                      <a:endParaRPr lang="en-US" sz="7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7150" marR="57150" marT="57150" marB="5715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991B1B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BLOCK</a:t>
                      </a:r>
                      <a:endParaRPr lang="en-US" sz="7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7150" marR="57150" marT="57150" marB="5715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WAF coverage &lt; 100%</a:t>
                      </a:r>
                      <a:endParaRPr lang="en-US" sz="7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7150" marR="57150" marT="57150" marB="5715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On-call training gap (15 → 6 oncall surfaces)</a:t>
                      </a:r>
                      <a:endParaRPr lang="en-US" sz="7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7150" marR="57150" marT="57150" marB="5715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@sara</a:t>
                      </a:r>
                      <a:endParaRPr lang="en-US" sz="7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7150" marR="57150" marT="57150" marB="5715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66534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OK</a:t>
                      </a:r>
                      <a:endParaRPr lang="en-US" sz="7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7150" marR="57150" marT="57150" marB="5715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dry-run pass rate &lt; 90%</a:t>
                      </a:r>
                      <a:endParaRPr lang="en-US" sz="7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7150" marR="57150" marT="57150" marB="5715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Cross-region clock skew on identity-resolve cache</a:t>
                      </a:r>
                      <a:endParaRPr lang="en-US" sz="7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7150" marR="57150" marT="57150" marB="5715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@yuki</a:t>
                      </a:r>
                      <a:endParaRPr lang="en-US" sz="7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7150" marR="57150" marT="57150" marB="5715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66534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OK</a:t>
                      </a:r>
                      <a:endParaRPr lang="en-US" sz="7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7150" marR="57150" marT="57150" marB="5715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skew &gt; 50ms p99</a:t>
                      </a:r>
                      <a:endParaRPr lang="en-US" sz="7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7150" marR="57150" marT="57150" marB="57150" anchor="ctr">
                    <a:lnL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172325" y="2085975"/>
            <a:ext cx="9525" cy="249555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0" name="Text 7"/>
          <p:cNvSpPr/>
          <p:nvPr/>
        </p:nvSpPr>
        <p:spPr>
          <a:xfrm>
            <a:off x="7372350" y="2085975"/>
            <a:ext cx="42862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plan.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7372350" y="2428875"/>
            <a:ext cx="342900" cy="342900"/>
          </a:xfrm>
          <a:prstGeom prst="roundRect">
            <a:avLst>
              <a:gd name="adj" fmla="val 88889"/>
            </a:avLst>
          </a:prstGeom>
          <a:solidFill>
            <a:srgbClr val="2563EB"/>
          </a:solidFill>
          <a:ln/>
        </p:spPr>
      </p:sp>
      <p:sp>
        <p:nvSpPr>
          <p:cNvPr id="12" name="Text 9"/>
          <p:cNvSpPr/>
          <p:nvPr/>
        </p:nvSpPr>
        <p:spPr>
          <a:xfrm>
            <a:off x="7439025" y="2543175"/>
            <a:ext cx="2000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829550" y="2428875"/>
            <a:ext cx="38290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plane bring-up</a:t>
            </a:r>
            <a:endParaRPr lang="en-US" sz="975" dirty="0"/>
          </a:p>
        </p:txBody>
      </p:sp>
      <p:sp>
        <p:nvSpPr>
          <p:cNvPr id="14" name="Text 11"/>
          <p:cNvSpPr/>
          <p:nvPr/>
        </p:nvSpPr>
        <p:spPr>
          <a:xfrm>
            <a:off x="7829550" y="2619375"/>
            <a:ext cx="38290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region, dark deploy, no real traffic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7372350" y="2876550"/>
            <a:ext cx="342900" cy="342900"/>
          </a:xfrm>
          <a:prstGeom prst="roundRect">
            <a:avLst>
              <a:gd name="adj" fmla="val 88889"/>
            </a:avLst>
          </a:prstGeom>
          <a:solidFill>
            <a:srgbClr val="2563EB"/>
          </a:solidFill>
          <a:ln/>
        </p:spPr>
      </p:sp>
      <p:sp>
        <p:nvSpPr>
          <p:cNvPr id="16" name="Text 13"/>
          <p:cNvSpPr/>
          <p:nvPr/>
        </p:nvSpPr>
        <p:spPr>
          <a:xfrm>
            <a:off x="7429500" y="2990850"/>
            <a:ext cx="2381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M2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829550" y="2876550"/>
            <a:ext cx="38290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Director shadowing</a:t>
            </a:r>
            <a:endParaRPr lang="en-US" sz="975" dirty="0"/>
          </a:p>
        </p:txBody>
      </p:sp>
      <p:sp>
        <p:nvSpPr>
          <p:cNvPr id="18" name="Text 15"/>
          <p:cNvSpPr/>
          <p:nvPr/>
        </p:nvSpPr>
        <p:spPr>
          <a:xfrm>
            <a:off x="7829550" y="3067050"/>
            <a:ext cx="38290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 traffic, compare decisions against legacy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372350" y="3324225"/>
            <a:ext cx="342900" cy="342900"/>
          </a:xfrm>
          <a:prstGeom prst="roundRect">
            <a:avLst>
              <a:gd name="adj" fmla="val 88889"/>
            </a:avLst>
          </a:prstGeom>
          <a:solidFill>
            <a:srgbClr val="2563EB"/>
          </a:solidFill>
          <a:ln/>
        </p:spPr>
      </p:sp>
      <p:sp>
        <p:nvSpPr>
          <p:cNvPr id="20" name="Text 17"/>
          <p:cNvSpPr/>
          <p:nvPr/>
        </p:nvSpPr>
        <p:spPr>
          <a:xfrm>
            <a:off x="7429500" y="3438525"/>
            <a:ext cx="2381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M3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829550" y="3324225"/>
            <a:ext cx="38290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Edge canary, us-east</a:t>
            </a:r>
            <a:endParaRPr lang="en-US" sz="975" dirty="0"/>
          </a:p>
        </p:txBody>
      </p:sp>
      <p:sp>
        <p:nvSpPr>
          <p:cNvPr id="22" name="Text 19"/>
          <p:cNvSpPr/>
          <p:nvPr/>
        </p:nvSpPr>
        <p:spPr>
          <a:xfrm>
            <a:off x="7829550" y="3514725"/>
            <a:ext cx="38290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5% traffic, kill switch &lt; 30s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7372350" y="3771900"/>
            <a:ext cx="342900" cy="342900"/>
          </a:xfrm>
          <a:prstGeom prst="roundRect">
            <a:avLst>
              <a:gd name="adj" fmla="val 88889"/>
            </a:avLst>
          </a:prstGeom>
          <a:solidFill>
            <a:srgbClr val="2563EB"/>
          </a:solidFill>
          <a:ln/>
        </p:spPr>
      </p:sp>
      <p:sp>
        <p:nvSpPr>
          <p:cNvPr id="24" name="Text 21"/>
          <p:cNvSpPr/>
          <p:nvPr/>
        </p:nvSpPr>
        <p:spPr>
          <a:xfrm>
            <a:off x="7429500" y="3886200"/>
            <a:ext cx="2381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M4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829550" y="3771900"/>
            <a:ext cx="38290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Region-by-region GA</a:t>
            </a:r>
            <a:endParaRPr lang="en-US" sz="975" dirty="0"/>
          </a:p>
        </p:txBody>
      </p:sp>
      <p:sp>
        <p:nvSpPr>
          <p:cNvPr id="26" name="Text 23"/>
          <p:cNvSpPr/>
          <p:nvPr/>
        </p:nvSpPr>
        <p:spPr>
          <a:xfrm>
            <a:off x="7829550" y="3962400"/>
            <a:ext cx="38290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two-week per region, with one-week soak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7372350" y="4219575"/>
            <a:ext cx="342900" cy="342900"/>
          </a:xfrm>
          <a:prstGeom prst="roundRect">
            <a:avLst>
              <a:gd name="adj" fmla="val 88889"/>
            </a:avLst>
          </a:prstGeom>
          <a:solidFill>
            <a:srgbClr val="2563EB"/>
          </a:solidFill>
          <a:ln/>
        </p:spPr>
      </p:sp>
      <p:sp>
        <p:nvSpPr>
          <p:cNvPr id="28" name="Text 25"/>
          <p:cNvSpPr/>
          <p:nvPr/>
        </p:nvSpPr>
        <p:spPr>
          <a:xfrm>
            <a:off x="7429500" y="4333875"/>
            <a:ext cx="2381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M5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7829550" y="4219575"/>
            <a:ext cx="38290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Legacy LB decom</a:t>
            </a:r>
            <a:endParaRPr lang="en-US" sz="975" dirty="0"/>
          </a:p>
        </p:txBody>
      </p:sp>
      <p:sp>
        <p:nvSpPr>
          <p:cNvPr id="30" name="Text 27"/>
          <p:cNvSpPr/>
          <p:nvPr/>
        </p:nvSpPr>
        <p:spPr>
          <a:xfrm>
            <a:off x="7829550" y="4410075"/>
            <a:ext cx="38290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deprovision, archive runbooks, post-mortem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5200" y="6553200"/>
            <a:ext cx="609600" cy="1714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25">
                <a:solidFill>
                  <a:srgbClr val="111827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2026-05-11T06:05:33Z</dcterms:created>
  <dcterms:modified xsi:type="dcterms:W3CDTF">2026-05-11T06:05:33Z</dcterms:modified>
</cp:coreProperties>
</file>