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7553325" cy="10687050"/>
  <p:notesSz cx="10687050" cy="75533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AF6EE"/>
        </a:solidFill>
      </p:bgPr>
    </p:bg>
    <p:spTree>
      <p:nvGrpSpPr>
        <p:cNvPr id="1" name=""/>
        <p:cNvGrpSpPr/>
        <p:nvPr/>
      </p:nvGrpSpPr>
      <p:grpSpPr>
        <a:xfrm>
          <a:off x="0" y="0"/>
          <a:ext cx="0" cy="0"/>
          <a:chOff x="0" y="0"/>
          <a:chExt cx="0" cy="0"/>
        </a:xfrm>
      </p:grpSpPr>
      <p:sp>
        <p:nvSpPr>
          <p:cNvPr id="2" name="Shape 0"/>
          <p:cNvSpPr/>
          <p:nvPr/>
        </p:nvSpPr>
        <p:spPr>
          <a:xfrm>
            <a:off x="457200" y="457200"/>
            <a:ext cx="19050" cy="342900"/>
          </a:xfrm>
          <a:prstGeom prst="rect">
            <a:avLst/>
          </a:prstGeom>
          <a:solidFill>
            <a:srgbClr val="9A2A1F"/>
          </a:solidFill>
          <a:ln/>
        </p:spPr>
      </p:sp>
      <p:sp>
        <p:nvSpPr>
          <p:cNvPr id="3" name="Text 1"/>
          <p:cNvSpPr/>
          <p:nvPr/>
        </p:nvSpPr>
        <p:spPr>
          <a:xfrm>
            <a:off x="571500" y="457200"/>
            <a:ext cx="2667000" cy="171450"/>
          </a:xfrm>
          <a:prstGeom prst="rect">
            <a:avLst/>
          </a:prstGeom>
          <a:noFill/>
          <a:ln/>
        </p:spPr>
        <p:txBody>
          <a:bodyPr wrap="square" rtlCol="0" anchor="ctr"/>
          <a:lstStyle/>
          <a:p>
            <a:pPr indent="0" marL="0">
              <a:buNone/>
            </a:pPr>
            <a:r>
              <a:rPr lang="en-US" sz="750" b="1" dirty="0">
                <a:solidFill>
                  <a:srgbClr val="1F1B16"/>
                </a:solidFill>
                <a:latin typeface="Inter" pitchFamily="34" charset="0"/>
                <a:ea typeface="Inter" pitchFamily="34" charset="-122"/>
                <a:cs typeface="Inter" pitchFamily="34" charset="-120"/>
              </a:rPr>
              <a:t>QUARTERLY · ARCHIVE</a:t>
            </a:r>
            <a:endParaRPr lang="en-US" sz="750" dirty="0"/>
          </a:p>
        </p:txBody>
      </p:sp>
      <p:sp>
        <p:nvSpPr>
          <p:cNvPr id="4" name="Text 2"/>
          <p:cNvSpPr/>
          <p:nvPr/>
        </p:nvSpPr>
        <p:spPr>
          <a:xfrm>
            <a:off x="571500" y="628650"/>
            <a:ext cx="2667000" cy="171450"/>
          </a:xfrm>
          <a:prstGeom prst="rect">
            <a:avLst/>
          </a:prstGeom>
          <a:noFill/>
          <a:ln/>
        </p:spPr>
        <p:txBody>
          <a:bodyPr wrap="square" rtlCol="0" anchor="ctr"/>
          <a:lstStyle/>
          <a:p>
            <a:pPr indent="0" marL="0">
              <a:buNone/>
            </a:pPr>
            <a:r>
              <a:rPr lang="en-US" sz="675" dirty="0">
                <a:solidFill>
                  <a:srgbClr val="6B604F"/>
                </a:solidFill>
                <a:latin typeface="Inter" pitchFamily="34" charset="0"/>
                <a:ea typeface="Inter" pitchFamily="34" charset="-122"/>
                <a:cs typeface="Inter" pitchFamily="34" charset="-120"/>
              </a:rPr>
              <a:t>Issue 14  ·  Winter 2026</a:t>
            </a:r>
            <a:endParaRPr lang="en-US" sz="67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ODY">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57200" y="361950"/>
            <a:ext cx="2857500" cy="133350"/>
          </a:xfrm>
          <a:prstGeom prst="rect">
            <a:avLst/>
          </a:prstGeom>
          <a:noFill/>
          <a:ln/>
        </p:spPr>
        <p:txBody>
          <a:bodyPr wrap="square" rtlCol="0" anchor="ctr"/>
          <a:lstStyle/>
          <a:p>
            <a:pPr indent="0" marL="0">
              <a:buNone/>
            </a:pPr>
            <a:r>
              <a:rPr lang="en-US" sz="675" b="1" dirty="0">
                <a:solidFill>
                  <a:srgbClr val="6B604F"/>
                </a:solidFill>
                <a:latin typeface="Inter" pitchFamily="34" charset="0"/>
                <a:ea typeface="Inter" pitchFamily="34" charset="-122"/>
                <a:cs typeface="Inter" pitchFamily="34" charset="-120"/>
              </a:rPr>
              <a:t>QUARTERLY  ·  ISSUE 14  ·  WINTER 2026</a:t>
            </a:r>
            <a:endParaRPr lang="en-US" sz="675" dirty="0"/>
          </a:p>
        </p:txBody>
      </p:sp>
      <p:sp>
        <p:nvSpPr>
          <p:cNvPr id="3" name="Text 1"/>
          <p:cNvSpPr/>
          <p:nvPr/>
        </p:nvSpPr>
        <p:spPr>
          <a:xfrm>
            <a:off x="4238625" y="361950"/>
            <a:ext cx="2857500" cy="133350"/>
          </a:xfrm>
          <a:prstGeom prst="rect">
            <a:avLst/>
          </a:prstGeom>
          <a:noFill/>
          <a:ln/>
        </p:spPr>
        <p:txBody>
          <a:bodyPr wrap="square" rtlCol="0" anchor="ctr"/>
          <a:lstStyle/>
          <a:p>
            <a:pPr algn="r" indent="0" marL="0">
              <a:buNone/>
            </a:pPr>
            <a:r>
              <a:rPr lang="en-US" sz="675" b="1" dirty="0">
                <a:solidFill>
                  <a:srgbClr val="9A2A1F"/>
                </a:solidFill>
                <a:latin typeface="Inter" pitchFamily="34" charset="0"/>
                <a:ea typeface="Inter" pitchFamily="34" charset="-122"/>
                <a:cs typeface="Inter" pitchFamily="34" charset="-120"/>
              </a:rPr>
              <a:t>THE LONG TAIL OF SHIPPING</a:t>
            </a:r>
            <a:endParaRPr lang="en-US" sz="675" dirty="0"/>
          </a:p>
        </p:txBody>
      </p:sp>
      <p:sp>
        <p:nvSpPr>
          <p:cNvPr id="4" name="Shape 2"/>
          <p:cNvSpPr/>
          <p:nvPr/>
        </p:nvSpPr>
        <p:spPr>
          <a:xfrm>
            <a:off x="457200" y="552450"/>
            <a:ext cx="6638925" cy="9525"/>
          </a:xfrm>
          <a:prstGeom prst="rect">
            <a:avLst/>
          </a:prstGeom>
          <a:solidFill>
            <a:srgbClr val="C7B998"/>
          </a:solidFill>
          <a:ln/>
        </p:spPr>
      </p:sp>
      <p:sp>
        <p:nvSpPr>
          <p:cNvPr id="5" name="Shape 3"/>
          <p:cNvSpPr/>
          <p:nvPr/>
        </p:nvSpPr>
        <p:spPr>
          <a:xfrm>
            <a:off x="457200" y="10134600"/>
            <a:ext cx="6638925" cy="9525"/>
          </a:xfrm>
          <a:prstGeom prst="rect">
            <a:avLst/>
          </a:prstGeom>
          <a:solidFill>
            <a:srgbClr val="C7B998"/>
          </a:solidFill>
          <a:ln/>
        </p:spPr>
      </p:sp>
      <p:sp>
        <p:nvSpPr>
          <p:cNvPr id="6" name="Text 4"/>
          <p:cNvSpPr/>
          <p:nvPr/>
        </p:nvSpPr>
        <p:spPr>
          <a:xfrm>
            <a:off x="457200" y="10267950"/>
            <a:ext cx="2857500" cy="133350"/>
          </a:xfrm>
          <a:prstGeom prst="rect">
            <a:avLst/>
          </a:prstGeom>
          <a:noFill/>
          <a:ln/>
        </p:spPr>
        <p:txBody>
          <a:bodyPr wrap="square" rtlCol="0" anchor="ctr"/>
          <a:lstStyle/>
          <a:p>
            <a:pPr indent="0" marL="0">
              <a:buNone/>
            </a:pPr>
            <a:r>
              <a:rPr lang="en-US" sz="675" i="1" dirty="0">
                <a:solidFill>
                  <a:srgbClr val="6B604F"/>
                </a:solidFill>
                <a:latin typeface="Inter" pitchFamily="34" charset="0"/>
                <a:ea typeface="Inter" pitchFamily="34" charset="-122"/>
                <a:cs typeface="Inter" pitchFamily="34" charset="-120"/>
              </a:rPr>
              <a:t>quarterly.press  ·  letters@quarterly.press</a:t>
            </a:r>
            <a:endParaRPr lang="en-US" sz="675" dirty="0"/>
          </a:p>
        </p:txBody>
      </p:sp>
      <p:sp>
        <p:nvSpPr>
          <p:cNvPr id="7" name="Text 5"/>
          <p:cNvSpPr/>
          <p:nvPr/>
        </p:nvSpPr>
        <p:spPr>
          <a:xfrm>
            <a:off x="3543300" y="10267950"/>
            <a:ext cx="1714500" cy="133350"/>
          </a:xfrm>
          <a:prstGeom prst="rect">
            <a:avLst/>
          </a:prstGeom>
          <a:noFill/>
          <a:ln/>
        </p:spPr>
        <p:txBody>
          <a:bodyPr wrap="square" rtlCol="0" anchor="ctr"/>
          <a:lstStyle/>
          <a:p>
            <a:pPr algn="ctr" indent="0" marL="0">
              <a:buNone/>
            </a:pPr>
            <a:r>
              <a:rPr lang="en-US" sz="675" b="1" dirty="0">
                <a:solidFill>
                  <a:srgbClr val="6B604F"/>
                </a:solidFill>
                <a:latin typeface="Inter" pitchFamily="34" charset="0"/>
                <a:ea typeface="Inter" pitchFamily="34" charset="-122"/>
                <a:cs typeface="Inter" pitchFamily="34" charset="-120"/>
              </a:rPr>
              <a:t>FEATURE</a:t>
            </a:r>
            <a:endParaRPr lang="en-US" sz="675" dirty="0"/>
          </a:p>
        </p:txBody>
      </p:sp>
      <p:sp>
        <p:nvSpPr>
          <p:cNvPr id="25" name="Slide Number Placeholder 0"/>
          <p:cNvSpPr>
            <a:spLocks noGrp="1"/>
          </p:cNvSpPr>
          <p:nvPr>
            <p:ph type="sldNum" sz="quarter" idx="4294967295"/>
          </p:nvPr>
        </p:nvSpPr>
        <p:spPr>
          <a:xfrm>
            <a:off x="6667500" y="10248900"/>
            <a:ext cx="419100" cy="171450"/>
          </a:xfrm>
          <a:prstGeom prst="rect">
            <a:avLst/>
          </a:prstGeom>
          <a:extLst>
            <a:ext uri="{C572A759-6A51-4108-AA02-DFA0A04FC94B}">
              <ma14:wrappingTextBoxFlag xmlns:ma14="http://schemas.microsoft.com/office/mac/drawingml/2011/main" val="0"/>
            </a:ext>
          </a:extLst>
        </p:spPr>
        <p:txBody>
          <a:bodyPr/>
          <a:lstStyle>
            <a:lvl1pPr>
              <a:defRPr sz="825">
                <a:solidFill>
                  <a:srgbClr val="1F1B16"/>
                </a:solidFill>
                <a:latin typeface="Inter"/>
                <a:ea typeface="Inter"/>
                <a:cs typeface="Inter"/>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6667500" y="10248900"/>
            <a:ext cx="419100" cy="171450"/>
          </a:xfrm>
          <a:prstGeom prst="rect">
            <a:avLst/>
          </a:prstGeom>
          <a:extLst>
            <a:ext uri="{C572A759-6A51-4108-AA02-DFA0A04FC94B}">
              <ma14:wrappingTextBoxFlag xmlns:ma14="http://schemas.microsoft.com/office/mac/drawingml/2011/main" val="0"/>
            </a:ext>
          </a:extLst>
        </p:spPr>
        <p:txBody>
          <a:bodyPr/>
          <a:lstStyle>
            <a:lvl1pPr>
              <a:defRPr sz="825">
                <a:solidFill>
                  <a:srgbClr val="1F1B16"/>
                </a:solidFill>
                <a:latin typeface="Inter"/>
                <a:ea typeface="Inter"/>
                <a:cs typeface="Inter"/>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1714500"/>
            <a:ext cx="6638925" cy="85725"/>
          </a:xfrm>
          <a:prstGeom prst="rect">
            <a:avLst/>
          </a:prstGeom>
          <a:noFill/>
          <a:ln/>
        </p:spPr>
        <p:txBody>
          <a:bodyPr wrap="square" lIns="0" tIns="0" rIns="0" bIns="0" rtlCol="0" anchor="t"/>
          <a:lstStyle/>
          <a:p>
            <a:pPr algn="l" indent="0" marL="0">
              <a:lnSpc>
                <a:spcPct val="100000"/>
              </a:lnSpc>
              <a:buNone/>
            </a:pPr>
            <a:r>
              <a:rPr lang="en-US" sz="675" b="1" dirty="0">
                <a:solidFill>
                  <a:srgbClr val="9A2A1F"/>
                </a:solidFill>
                <a:latin typeface="Inter" pitchFamily="34" charset="0"/>
                <a:ea typeface="Inter" pitchFamily="34" charset="-122"/>
                <a:cs typeface="Inter" pitchFamily="34" charset="-120"/>
              </a:rPr>
              <a:t>THE LONG TAIL</a:t>
            </a:r>
            <a:endParaRPr lang="en-US" sz="675" dirty="0"/>
          </a:p>
        </p:txBody>
      </p:sp>
      <p:sp>
        <p:nvSpPr>
          <p:cNvPr id="3" name="Text 1"/>
          <p:cNvSpPr/>
          <p:nvPr/>
        </p:nvSpPr>
        <p:spPr>
          <a:xfrm>
            <a:off x="457200" y="1990725"/>
            <a:ext cx="6638925" cy="609600"/>
          </a:xfrm>
          <a:prstGeom prst="rect">
            <a:avLst/>
          </a:prstGeom>
          <a:noFill/>
          <a:ln/>
        </p:spPr>
        <p:txBody>
          <a:bodyPr wrap="square" lIns="0" tIns="0" rIns="0" bIns="0" rtlCol="0" anchor="t"/>
          <a:lstStyle/>
          <a:p>
            <a:pPr algn="l" indent="0" marL="0">
              <a:lnSpc>
                <a:spcPct val="100000"/>
              </a:lnSpc>
              <a:buNone/>
            </a:pPr>
            <a:r>
              <a:rPr lang="en-US" sz="4800" dirty="0">
                <a:solidFill>
                  <a:srgbClr val="1F1B16"/>
                </a:solidFill>
                <a:latin typeface="Georgia" pitchFamily="34" charset="0"/>
                <a:ea typeface="Georgia" pitchFamily="34" charset="-122"/>
                <a:cs typeface="Georgia" pitchFamily="34" charset="-120"/>
              </a:rPr>
              <a:t>After the launch,</a:t>
            </a:r>
            <a:endParaRPr lang="en-US" sz="4800" dirty="0"/>
          </a:p>
        </p:txBody>
      </p:sp>
      <p:sp>
        <p:nvSpPr>
          <p:cNvPr id="4" name="Text 2"/>
          <p:cNvSpPr/>
          <p:nvPr/>
        </p:nvSpPr>
        <p:spPr>
          <a:xfrm>
            <a:off x="457200" y="2790825"/>
            <a:ext cx="6638925" cy="609600"/>
          </a:xfrm>
          <a:prstGeom prst="rect">
            <a:avLst/>
          </a:prstGeom>
          <a:noFill/>
          <a:ln/>
        </p:spPr>
        <p:txBody>
          <a:bodyPr wrap="square" lIns="0" tIns="0" rIns="0" bIns="0" rtlCol="0" anchor="t"/>
          <a:lstStyle/>
          <a:p>
            <a:pPr algn="l" indent="0" marL="0">
              <a:lnSpc>
                <a:spcPct val="100000"/>
              </a:lnSpc>
              <a:buNone/>
            </a:pPr>
            <a:r>
              <a:rPr lang="en-US" sz="4800" i="1" dirty="0">
                <a:solidFill>
                  <a:srgbClr val="9A2A1F"/>
                </a:solidFill>
                <a:latin typeface="Georgia" pitchFamily="34" charset="0"/>
                <a:ea typeface="Georgia" pitchFamily="34" charset="-122"/>
                <a:cs typeface="Georgia" pitchFamily="34" charset="-120"/>
              </a:rPr>
              <a:t>the slow work.</a:t>
            </a:r>
            <a:endParaRPr lang="en-US" sz="4800" dirty="0"/>
          </a:p>
        </p:txBody>
      </p:sp>
      <p:sp>
        <p:nvSpPr>
          <p:cNvPr id="5" name="Shape 3"/>
          <p:cNvSpPr/>
          <p:nvPr/>
        </p:nvSpPr>
        <p:spPr>
          <a:xfrm>
            <a:off x="457200" y="3743325"/>
            <a:ext cx="6638925" cy="9525"/>
          </a:xfrm>
          <a:prstGeom prst="rect">
            <a:avLst/>
          </a:prstGeom>
          <a:solidFill>
            <a:srgbClr val="C7B998"/>
          </a:solidFill>
          <a:ln/>
        </p:spPr>
      </p:sp>
      <p:sp>
        <p:nvSpPr>
          <p:cNvPr id="6" name="Text 4"/>
          <p:cNvSpPr/>
          <p:nvPr/>
        </p:nvSpPr>
        <p:spPr>
          <a:xfrm>
            <a:off x="457200" y="4019550"/>
            <a:ext cx="5143500" cy="647700"/>
          </a:xfrm>
          <a:prstGeom prst="rect">
            <a:avLst/>
          </a:prstGeom>
          <a:noFill/>
          <a:ln/>
        </p:spPr>
        <p:txBody>
          <a:bodyPr wrap="square" lIns="0" tIns="0" rIns="0" bIns="0" rtlCol="0" anchor="t"/>
          <a:lstStyle/>
          <a:p>
            <a:pPr algn="l" indent="0" marL="0">
              <a:lnSpc>
                <a:spcPct val="140000"/>
              </a:lnSpc>
              <a:buNone/>
            </a:pPr>
            <a:r>
              <a:rPr lang="en-US" sz="1200" i="1" dirty="0">
                <a:solidFill>
                  <a:srgbClr val="3A332B"/>
                </a:solidFill>
                <a:latin typeface="Georgia" pitchFamily="34" charset="0"/>
                <a:ea typeface="Georgia" pitchFamily="34" charset="-122"/>
                <a:cs typeface="Georgia" pitchFamily="34" charset="-120"/>
              </a:rPr>
              <a:t>A field report on what teams actually maintain — the quiet hours, the configuration drift, the dashboards nobody owns — long after the marketing window closes.</a:t>
            </a:r>
            <a:endParaRPr lang="en-US" sz="1200" dirty="0"/>
          </a:p>
        </p:txBody>
      </p:sp>
      <p:sp>
        <p:nvSpPr>
          <p:cNvPr id="7" name="Text 5"/>
          <p:cNvSpPr/>
          <p:nvPr/>
        </p:nvSpPr>
        <p:spPr>
          <a:xfrm>
            <a:off x="457200" y="5191125"/>
            <a:ext cx="1905000" cy="133350"/>
          </a:xfrm>
          <a:prstGeom prst="rect">
            <a:avLst/>
          </a:prstGeom>
          <a:noFill/>
          <a:ln/>
        </p:spPr>
        <p:txBody>
          <a:bodyPr wrap="square" lIns="0" tIns="0" rIns="0" bIns="0" rtlCol="0" anchor="t"/>
          <a:lstStyle/>
          <a:p>
            <a:pPr algn="l" indent="0" marL="0">
              <a:lnSpc>
                <a:spcPct val="120000"/>
              </a:lnSpc>
              <a:buNone/>
            </a:pPr>
            <a:r>
              <a:rPr lang="en-US" sz="675" b="1" dirty="0">
                <a:solidFill>
                  <a:srgbClr val="6B604F"/>
                </a:solidFill>
                <a:latin typeface="Inter" pitchFamily="34" charset="0"/>
                <a:ea typeface="Inter" pitchFamily="34" charset="-122"/>
                <a:cs typeface="Inter" pitchFamily="34" charset="-120"/>
              </a:rPr>
              <a:t>FEATURE</a:t>
            </a:r>
            <a:endParaRPr lang="en-US" sz="675" dirty="0"/>
          </a:p>
        </p:txBody>
      </p:sp>
      <p:sp>
        <p:nvSpPr>
          <p:cNvPr id="8" name="Shape 6"/>
          <p:cNvSpPr/>
          <p:nvPr/>
        </p:nvSpPr>
        <p:spPr>
          <a:xfrm>
            <a:off x="2590800" y="5191125"/>
            <a:ext cx="9525" cy="133350"/>
          </a:xfrm>
          <a:prstGeom prst="rect">
            <a:avLst/>
          </a:prstGeom>
          <a:solidFill>
            <a:srgbClr val="C7B998"/>
          </a:solidFill>
          <a:ln/>
        </p:spPr>
      </p:sp>
      <p:sp>
        <p:nvSpPr>
          <p:cNvPr id="9" name="Text 7"/>
          <p:cNvSpPr/>
          <p:nvPr/>
        </p:nvSpPr>
        <p:spPr>
          <a:xfrm>
            <a:off x="2819400" y="5191125"/>
            <a:ext cx="1914525" cy="133350"/>
          </a:xfrm>
          <a:prstGeom prst="rect">
            <a:avLst/>
          </a:prstGeom>
          <a:noFill/>
          <a:ln/>
        </p:spPr>
        <p:txBody>
          <a:bodyPr wrap="square" lIns="0" tIns="0" rIns="0" bIns="0" rtlCol="0" anchor="t"/>
          <a:lstStyle/>
          <a:p>
            <a:pPr algn="l" indent="0" marL="0">
              <a:lnSpc>
                <a:spcPct val="120000"/>
              </a:lnSpc>
              <a:buNone/>
            </a:pPr>
            <a:r>
              <a:rPr lang="en-US" sz="675" b="1" dirty="0">
                <a:solidFill>
                  <a:srgbClr val="6B604F"/>
                </a:solidFill>
                <a:latin typeface="Inter" pitchFamily="34" charset="0"/>
                <a:ea typeface="Inter" pitchFamily="34" charset="-122"/>
                <a:cs typeface="Inter" pitchFamily="34" charset="-120"/>
              </a:rPr>
              <a:t>5,400 WORDS</a:t>
            </a:r>
            <a:endParaRPr lang="en-US" sz="675" dirty="0"/>
          </a:p>
        </p:txBody>
      </p:sp>
      <p:sp>
        <p:nvSpPr>
          <p:cNvPr id="10" name="Shape 8"/>
          <p:cNvSpPr/>
          <p:nvPr/>
        </p:nvSpPr>
        <p:spPr>
          <a:xfrm>
            <a:off x="4953000" y="5191125"/>
            <a:ext cx="9525" cy="133350"/>
          </a:xfrm>
          <a:prstGeom prst="rect">
            <a:avLst/>
          </a:prstGeom>
          <a:solidFill>
            <a:srgbClr val="C7B998"/>
          </a:solidFill>
          <a:ln/>
        </p:spPr>
      </p:sp>
      <p:sp>
        <p:nvSpPr>
          <p:cNvPr id="11" name="Text 9"/>
          <p:cNvSpPr/>
          <p:nvPr/>
        </p:nvSpPr>
        <p:spPr>
          <a:xfrm>
            <a:off x="5191125" y="5191125"/>
            <a:ext cx="1905000" cy="133350"/>
          </a:xfrm>
          <a:prstGeom prst="rect">
            <a:avLst/>
          </a:prstGeom>
          <a:noFill/>
          <a:ln/>
        </p:spPr>
        <p:txBody>
          <a:bodyPr wrap="square" lIns="0" tIns="0" rIns="0" bIns="0" rtlCol="0" anchor="t"/>
          <a:lstStyle/>
          <a:p>
            <a:pPr algn="l" indent="0" marL="0">
              <a:lnSpc>
                <a:spcPct val="120000"/>
              </a:lnSpc>
              <a:buNone/>
            </a:pPr>
            <a:r>
              <a:rPr lang="en-US" sz="675" b="1" dirty="0">
                <a:solidFill>
                  <a:srgbClr val="6B604F"/>
                </a:solidFill>
                <a:latin typeface="Inter" pitchFamily="34" charset="0"/>
                <a:ea typeface="Inter" pitchFamily="34" charset="-122"/>
                <a:cs typeface="Inter" pitchFamily="34" charset="-120"/>
              </a:rPr>
              <a:t>PUBLISHED 2026.02.14</a:t>
            </a:r>
            <a:endParaRPr lang="en-US" sz="6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800100"/>
            <a:ext cx="133350" cy="19050"/>
          </a:xfrm>
          <a:prstGeom prst="rect">
            <a:avLst/>
          </a:prstGeom>
          <a:solidFill>
            <a:srgbClr val="9A2A1F"/>
          </a:solidFill>
          <a:ln/>
        </p:spPr>
      </p:sp>
      <p:sp>
        <p:nvSpPr>
          <p:cNvPr id="3" name="Text 1"/>
          <p:cNvSpPr/>
          <p:nvPr/>
        </p:nvSpPr>
        <p:spPr>
          <a:xfrm>
            <a:off x="666750" y="762000"/>
            <a:ext cx="6429375" cy="85725"/>
          </a:xfrm>
          <a:prstGeom prst="rect">
            <a:avLst/>
          </a:prstGeom>
          <a:noFill/>
          <a:ln/>
        </p:spPr>
        <p:txBody>
          <a:bodyPr wrap="square" lIns="0" tIns="0" rIns="0" bIns="0" rtlCol="0" anchor="t"/>
          <a:lstStyle/>
          <a:p>
            <a:pPr algn="l" indent="0" marL="0">
              <a:lnSpc>
                <a:spcPct val="100000"/>
              </a:lnSpc>
              <a:buNone/>
            </a:pPr>
            <a:r>
              <a:rPr lang="en-US" sz="675" b="1" dirty="0">
                <a:solidFill>
                  <a:srgbClr val="9A2A1F"/>
                </a:solidFill>
                <a:latin typeface="Inter" pitchFamily="34" charset="0"/>
                <a:ea typeface="Inter" pitchFamily="34" charset="-122"/>
                <a:cs typeface="Inter" pitchFamily="34" charset="-120"/>
              </a:rPr>
              <a:t>ISSUE 14 · INDEX</a:t>
            </a:r>
            <a:endParaRPr lang="en-US" sz="675" dirty="0"/>
          </a:p>
        </p:txBody>
      </p:sp>
      <p:sp>
        <p:nvSpPr>
          <p:cNvPr id="4" name="Text 2"/>
          <p:cNvSpPr/>
          <p:nvPr/>
        </p:nvSpPr>
        <p:spPr>
          <a:xfrm>
            <a:off x="457200" y="904875"/>
            <a:ext cx="6638925" cy="333375"/>
          </a:xfrm>
          <a:prstGeom prst="rect">
            <a:avLst/>
          </a:prstGeom>
          <a:noFill/>
          <a:ln/>
        </p:spPr>
        <p:txBody>
          <a:bodyPr wrap="square" lIns="0" tIns="0" rIns="0" bIns="0" rtlCol="0" anchor="t"/>
          <a:lstStyle/>
          <a:p>
            <a:pPr algn="l" indent="0" marL="0">
              <a:lnSpc>
                <a:spcPct val="115000"/>
              </a:lnSpc>
              <a:buNone/>
            </a:pPr>
            <a:r>
              <a:rPr lang="en-US" sz="2250" dirty="0">
                <a:solidFill>
                  <a:srgbClr val="1F1B16"/>
                </a:solidFill>
                <a:latin typeface="Georgia" pitchFamily="34" charset="0"/>
                <a:ea typeface="Georgia" pitchFamily="34" charset="-122"/>
                <a:cs typeface="Georgia" pitchFamily="34" charset="-120"/>
              </a:rPr>
              <a:t>Inside this number.</a:t>
            </a:r>
            <a:endParaRPr lang="en-US" sz="2250" dirty="0"/>
          </a:p>
        </p:txBody>
      </p:sp>
      <p:sp>
        <p:nvSpPr>
          <p:cNvPr id="5" name="Text 3"/>
          <p:cNvSpPr/>
          <p:nvPr/>
        </p:nvSpPr>
        <p:spPr>
          <a:xfrm>
            <a:off x="457200" y="1285875"/>
            <a:ext cx="6096000" cy="438150"/>
          </a:xfrm>
          <a:prstGeom prst="rect">
            <a:avLst/>
          </a:prstGeom>
          <a:noFill/>
          <a:ln/>
        </p:spPr>
        <p:txBody>
          <a:bodyPr wrap="square" lIns="0" tIns="0" rIns="0" bIns="0" rtlCol="0" anchor="t"/>
          <a:lstStyle/>
          <a:p>
            <a:pPr algn="l" indent="0" marL="0">
              <a:lnSpc>
                <a:spcPct val="140000"/>
              </a:lnSpc>
              <a:buNone/>
            </a:pPr>
            <a:r>
              <a:rPr lang="en-US" sz="1200" i="1" dirty="0">
                <a:solidFill>
                  <a:srgbClr val="3A332B"/>
                </a:solidFill>
                <a:latin typeface="Georgia" pitchFamily="34" charset="0"/>
                <a:ea typeface="Georgia" pitchFamily="34" charset="-122"/>
                <a:cs typeface="Georgia" pitchFamily="34" charset="-120"/>
              </a:rPr>
              <a:t>Six pieces on the work that happens after a release. A reading order, plus a guide to the figures that recur across the feature.</a:t>
            </a:r>
            <a:endParaRPr lang="en-US" sz="1200" dirty="0"/>
          </a:p>
        </p:txBody>
      </p:sp>
      <p:sp>
        <p:nvSpPr>
          <p:cNvPr id="6" name="Shape 4"/>
          <p:cNvSpPr/>
          <p:nvPr/>
        </p:nvSpPr>
        <p:spPr>
          <a:xfrm>
            <a:off x="457200" y="1924050"/>
            <a:ext cx="6638925" cy="9525"/>
          </a:xfrm>
          <a:prstGeom prst="rect">
            <a:avLst/>
          </a:prstGeom>
          <a:solidFill>
            <a:srgbClr val="C7B998"/>
          </a:solidFill>
          <a:ln/>
        </p:spPr>
      </p:sp>
      <p:sp>
        <p:nvSpPr>
          <p:cNvPr id="7" name="Text 5"/>
          <p:cNvSpPr/>
          <p:nvPr/>
        </p:nvSpPr>
        <p:spPr>
          <a:xfrm>
            <a:off x="457200" y="2143125"/>
            <a:ext cx="228600" cy="123825"/>
          </a:xfrm>
          <a:prstGeom prst="rect">
            <a:avLst/>
          </a:prstGeom>
          <a:noFill/>
          <a:ln/>
        </p:spPr>
        <p:txBody>
          <a:bodyPr wrap="square" lIns="0" tIns="0" rIns="0" bIns="0" rtlCol="0" anchor="ctr"/>
          <a:lstStyle/>
          <a:p>
            <a:pPr algn="l" indent="0" marL="0">
              <a:lnSpc>
                <a:spcPct val="100000"/>
              </a:lnSpc>
              <a:buNone/>
            </a:pPr>
            <a:r>
              <a:rPr lang="en-US" sz="975" b="1" dirty="0">
                <a:solidFill>
                  <a:srgbClr val="9A2A1F"/>
                </a:solidFill>
                <a:latin typeface="Georgia" pitchFamily="34" charset="0"/>
                <a:ea typeface="Georgia" pitchFamily="34" charset="-122"/>
                <a:cs typeface="Georgia" pitchFamily="34" charset="-120"/>
              </a:rPr>
              <a:t>01</a:t>
            </a:r>
            <a:endParaRPr lang="en-US" sz="975" dirty="0"/>
          </a:p>
        </p:txBody>
      </p:sp>
      <p:sp>
        <p:nvSpPr>
          <p:cNvPr id="8" name="Text 6"/>
          <p:cNvSpPr/>
          <p:nvPr/>
        </p:nvSpPr>
        <p:spPr>
          <a:xfrm>
            <a:off x="800100" y="2143125"/>
            <a:ext cx="2400300" cy="123825"/>
          </a:xfrm>
          <a:prstGeom prst="rect">
            <a:avLst/>
          </a:prstGeom>
          <a:noFill/>
          <a:ln/>
        </p:spPr>
        <p:txBody>
          <a:bodyPr wrap="square" lIns="0" tIns="0" rIns="0" bIns="0" rtlCol="0" anchor="ctr"/>
          <a:lstStyle/>
          <a:p>
            <a:pPr algn="l" indent="0" marL="0">
              <a:lnSpc>
                <a:spcPct val="100000"/>
              </a:lnSpc>
              <a:buNone/>
            </a:pPr>
            <a:r>
              <a:rPr lang="en-US" sz="975" dirty="0">
                <a:solidFill>
                  <a:srgbClr val="1F1B16"/>
                </a:solidFill>
                <a:latin typeface="Georgia" pitchFamily="34" charset="0"/>
                <a:ea typeface="Georgia" pitchFamily="34" charset="-122"/>
                <a:cs typeface="Georgia" pitchFamily="34" charset="-120"/>
              </a:rPr>
              <a:t>After the launch, the slow work</a:t>
            </a:r>
            <a:endParaRPr lang="en-US" sz="975" dirty="0"/>
          </a:p>
        </p:txBody>
      </p:sp>
      <p:sp>
        <p:nvSpPr>
          <p:cNvPr id="9" name="Text 7"/>
          <p:cNvSpPr/>
          <p:nvPr/>
        </p:nvSpPr>
        <p:spPr>
          <a:xfrm>
            <a:off x="3314700" y="2143125"/>
            <a:ext cx="266700" cy="123825"/>
          </a:xfrm>
          <a:prstGeom prst="rect">
            <a:avLst/>
          </a:prstGeom>
          <a:noFill/>
          <a:ln/>
        </p:spPr>
        <p:txBody>
          <a:bodyPr wrap="square" lIns="0" tIns="0" rIns="0" bIns="0" rtlCol="0" anchor="ctr"/>
          <a:lstStyle/>
          <a:p>
            <a:pPr algn="r" indent="0" marL="0">
              <a:lnSpc>
                <a:spcPct val="100000"/>
              </a:lnSpc>
              <a:buNone/>
            </a:pPr>
            <a:r>
              <a:rPr lang="en-US" sz="750" b="1" dirty="0">
                <a:solidFill>
                  <a:srgbClr val="6B604F"/>
                </a:solidFill>
                <a:latin typeface="Inter" pitchFamily="34" charset="0"/>
                <a:ea typeface="Inter" pitchFamily="34" charset="-122"/>
                <a:cs typeface="Inter" pitchFamily="34" charset="-120"/>
              </a:rPr>
              <a:t>3</a:t>
            </a:r>
            <a:endParaRPr lang="en-US" sz="750" dirty="0"/>
          </a:p>
        </p:txBody>
      </p:sp>
      <p:sp>
        <p:nvSpPr>
          <p:cNvPr id="10" name="Shape 8"/>
          <p:cNvSpPr/>
          <p:nvPr/>
        </p:nvSpPr>
        <p:spPr>
          <a:xfrm>
            <a:off x="457200" y="2400300"/>
            <a:ext cx="3124200" cy="9525"/>
          </a:xfrm>
          <a:prstGeom prst="rect">
            <a:avLst/>
          </a:prstGeom>
          <a:solidFill>
            <a:srgbClr val="C7B998"/>
          </a:solidFill>
          <a:ln/>
        </p:spPr>
      </p:sp>
      <p:sp>
        <p:nvSpPr>
          <p:cNvPr id="11" name="Text 9"/>
          <p:cNvSpPr/>
          <p:nvPr/>
        </p:nvSpPr>
        <p:spPr>
          <a:xfrm>
            <a:off x="457200" y="2543175"/>
            <a:ext cx="228600" cy="123825"/>
          </a:xfrm>
          <a:prstGeom prst="rect">
            <a:avLst/>
          </a:prstGeom>
          <a:noFill/>
          <a:ln/>
        </p:spPr>
        <p:txBody>
          <a:bodyPr wrap="square" lIns="0" tIns="0" rIns="0" bIns="0" rtlCol="0" anchor="ctr"/>
          <a:lstStyle/>
          <a:p>
            <a:pPr algn="l" indent="0" marL="0">
              <a:lnSpc>
                <a:spcPct val="100000"/>
              </a:lnSpc>
              <a:buNone/>
            </a:pPr>
            <a:r>
              <a:rPr lang="en-US" sz="975" b="1" dirty="0">
                <a:solidFill>
                  <a:srgbClr val="9A2A1F"/>
                </a:solidFill>
                <a:latin typeface="Georgia" pitchFamily="34" charset="0"/>
                <a:ea typeface="Georgia" pitchFamily="34" charset="-122"/>
                <a:cs typeface="Georgia" pitchFamily="34" charset="-120"/>
              </a:rPr>
              <a:t>02</a:t>
            </a:r>
            <a:endParaRPr lang="en-US" sz="975" dirty="0"/>
          </a:p>
        </p:txBody>
      </p:sp>
      <p:sp>
        <p:nvSpPr>
          <p:cNvPr id="12" name="Text 10"/>
          <p:cNvSpPr/>
          <p:nvPr/>
        </p:nvSpPr>
        <p:spPr>
          <a:xfrm>
            <a:off x="800100" y="2543175"/>
            <a:ext cx="2400300" cy="123825"/>
          </a:xfrm>
          <a:prstGeom prst="rect">
            <a:avLst/>
          </a:prstGeom>
          <a:noFill/>
          <a:ln/>
        </p:spPr>
        <p:txBody>
          <a:bodyPr wrap="square" lIns="0" tIns="0" rIns="0" bIns="0" rtlCol="0" anchor="ctr"/>
          <a:lstStyle/>
          <a:p>
            <a:pPr algn="l" indent="0" marL="0">
              <a:lnSpc>
                <a:spcPct val="100000"/>
              </a:lnSpc>
              <a:buNone/>
            </a:pPr>
            <a:r>
              <a:rPr lang="en-US" sz="975" dirty="0">
                <a:solidFill>
                  <a:srgbClr val="1F1B16"/>
                </a:solidFill>
                <a:latin typeface="Georgia" pitchFamily="34" charset="0"/>
                <a:ea typeface="Georgia" pitchFamily="34" charset="-122"/>
                <a:cs typeface="Georgia" pitchFamily="34" charset="-120"/>
              </a:rPr>
              <a:t>The shape of operational debt</a:t>
            </a:r>
            <a:endParaRPr lang="en-US" sz="975" dirty="0"/>
          </a:p>
        </p:txBody>
      </p:sp>
      <p:sp>
        <p:nvSpPr>
          <p:cNvPr id="13" name="Text 11"/>
          <p:cNvSpPr/>
          <p:nvPr/>
        </p:nvSpPr>
        <p:spPr>
          <a:xfrm>
            <a:off x="3314700" y="2543175"/>
            <a:ext cx="266700" cy="123825"/>
          </a:xfrm>
          <a:prstGeom prst="rect">
            <a:avLst/>
          </a:prstGeom>
          <a:noFill/>
          <a:ln/>
        </p:spPr>
        <p:txBody>
          <a:bodyPr wrap="square" lIns="0" tIns="0" rIns="0" bIns="0" rtlCol="0" anchor="ctr"/>
          <a:lstStyle/>
          <a:p>
            <a:pPr algn="r" indent="0" marL="0">
              <a:lnSpc>
                <a:spcPct val="100000"/>
              </a:lnSpc>
              <a:buNone/>
            </a:pPr>
            <a:r>
              <a:rPr lang="en-US" sz="750" b="1" dirty="0">
                <a:solidFill>
                  <a:srgbClr val="6B604F"/>
                </a:solidFill>
                <a:latin typeface="Inter" pitchFamily="34" charset="0"/>
                <a:ea typeface="Inter" pitchFamily="34" charset="-122"/>
                <a:cs typeface="Inter" pitchFamily="34" charset="-120"/>
              </a:rPr>
              <a:t>6</a:t>
            </a:r>
            <a:endParaRPr lang="en-US" sz="750" dirty="0"/>
          </a:p>
        </p:txBody>
      </p:sp>
      <p:sp>
        <p:nvSpPr>
          <p:cNvPr id="14" name="Shape 12"/>
          <p:cNvSpPr/>
          <p:nvPr/>
        </p:nvSpPr>
        <p:spPr>
          <a:xfrm>
            <a:off x="457200" y="2800350"/>
            <a:ext cx="3124200" cy="9525"/>
          </a:xfrm>
          <a:prstGeom prst="rect">
            <a:avLst/>
          </a:prstGeom>
          <a:solidFill>
            <a:srgbClr val="C7B998"/>
          </a:solidFill>
          <a:ln/>
        </p:spPr>
      </p:sp>
      <p:sp>
        <p:nvSpPr>
          <p:cNvPr id="15" name="Text 13"/>
          <p:cNvSpPr/>
          <p:nvPr/>
        </p:nvSpPr>
        <p:spPr>
          <a:xfrm>
            <a:off x="457200" y="2943225"/>
            <a:ext cx="228600" cy="123825"/>
          </a:xfrm>
          <a:prstGeom prst="rect">
            <a:avLst/>
          </a:prstGeom>
          <a:noFill/>
          <a:ln/>
        </p:spPr>
        <p:txBody>
          <a:bodyPr wrap="square" lIns="0" tIns="0" rIns="0" bIns="0" rtlCol="0" anchor="ctr"/>
          <a:lstStyle/>
          <a:p>
            <a:pPr algn="l" indent="0" marL="0">
              <a:lnSpc>
                <a:spcPct val="100000"/>
              </a:lnSpc>
              <a:buNone/>
            </a:pPr>
            <a:r>
              <a:rPr lang="en-US" sz="975" b="1" dirty="0">
                <a:solidFill>
                  <a:srgbClr val="9A2A1F"/>
                </a:solidFill>
                <a:latin typeface="Georgia" pitchFamily="34" charset="0"/>
                <a:ea typeface="Georgia" pitchFamily="34" charset="-122"/>
                <a:cs typeface="Georgia" pitchFamily="34" charset="-120"/>
              </a:rPr>
              <a:t>03</a:t>
            </a:r>
            <a:endParaRPr lang="en-US" sz="975" dirty="0"/>
          </a:p>
        </p:txBody>
      </p:sp>
      <p:sp>
        <p:nvSpPr>
          <p:cNvPr id="16" name="Text 14"/>
          <p:cNvSpPr/>
          <p:nvPr/>
        </p:nvSpPr>
        <p:spPr>
          <a:xfrm>
            <a:off x="800100" y="2943225"/>
            <a:ext cx="2400300" cy="123825"/>
          </a:xfrm>
          <a:prstGeom prst="rect">
            <a:avLst/>
          </a:prstGeom>
          <a:noFill/>
          <a:ln/>
        </p:spPr>
        <p:txBody>
          <a:bodyPr wrap="square" lIns="0" tIns="0" rIns="0" bIns="0" rtlCol="0" anchor="ctr"/>
          <a:lstStyle/>
          <a:p>
            <a:pPr algn="l" indent="0" marL="0">
              <a:lnSpc>
                <a:spcPct val="100000"/>
              </a:lnSpc>
              <a:buNone/>
            </a:pPr>
            <a:r>
              <a:rPr lang="en-US" sz="975" dirty="0">
                <a:solidFill>
                  <a:srgbClr val="1F1B16"/>
                </a:solidFill>
                <a:latin typeface="Georgia" pitchFamily="34" charset="0"/>
                <a:ea typeface="Georgia" pitchFamily="34" charset="-122"/>
                <a:cs typeface="Georgia" pitchFamily="34" charset="-120"/>
              </a:rPr>
              <a:t>What dashboards forget</a:t>
            </a:r>
            <a:endParaRPr lang="en-US" sz="975" dirty="0"/>
          </a:p>
        </p:txBody>
      </p:sp>
      <p:sp>
        <p:nvSpPr>
          <p:cNvPr id="17" name="Text 15"/>
          <p:cNvSpPr/>
          <p:nvPr/>
        </p:nvSpPr>
        <p:spPr>
          <a:xfrm>
            <a:off x="3314700" y="2943225"/>
            <a:ext cx="266700" cy="123825"/>
          </a:xfrm>
          <a:prstGeom prst="rect">
            <a:avLst/>
          </a:prstGeom>
          <a:noFill/>
          <a:ln/>
        </p:spPr>
        <p:txBody>
          <a:bodyPr wrap="square" lIns="0" tIns="0" rIns="0" bIns="0" rtlCol="0" anchor="ctr"/>
          <a:lstStyle/>
          <a:p>
            <a:pPr algn="r" indent="0" marL="0">
              <a:lnSpc>
                <a:spcPct val="100000"/>
              </a:lnSpc>
              <a:buNone/>
            </a:pPr>
            <a:r>
              <a:rPr lang="en-US" sz="750" b="1" dirty="0">
                <a:solidFill>
                  <a:srgbClr val="6B604F"/>
                </a:solidFill>
                <a:latin typeface="Inter" pitchFamily="34" charset="0"/>
                <a:ea typeface="Inter" pitchFamily="34" charset="-122"/>
                <a:cs typeface="Inter" pitchFamily="34" charset="-120"/>
              </a:rPr>
              <a:t>11</a:t>
            </a:r>
            <a:endParaRPr lang="en-US" sz="750" dirty="0"/>
          </a:p>
        </p:txBody>
      </p:sp>
      <p:sp>
        <p:nvSpPr>
          <p:cNvPr id="18" name="Shape 16"/>
          <p:cNvSpPr/>
          <p:nvPr/>
        </p:nvSpPr>
        <p:spPr>
          <a:xfrm>
            <a:off x="457200" y="3200400"/>
            <a:ext cx="3124200" cy="9525"/>
          </a:xfrm>
          <a:prstGeom prst="rect">
            <a:avLst/>
          </a:prstGeom>
          <a:solidFill>
            <a:srgbClr val="C7B998"/>
          </a:solidFill>
          <a:ln/>
        </p:spPr>
      </p:sp>
      <p:sp>
        <p:nvSpPr>
          <p:cNvPr id="19" name="Text 17"/>
          <p:cNvSpPr/>
          <p:nvPr/>
        </p:nvSpPr>
        <p:spPr>
          <a:xfrm>
            <a:off x="457200" y="3343275"/>
            <a:ext cx="228600" cy="123825"/>
          </a:xfrm>
          <a:prstGeom prst="rect">
            <a:avLst/>
          </a:prstGeom>
          <a:noFill/>
          <a:ln/>
        </p:spPr>
        <p:txBody>
          <a:bodyPr wrap="square" lIns="0" tIns="0" rIns="0" bIns="0" rtlCol="0" anchor="ctr"/>
          <a:lstStyle/>
          <a:p>
            <a:pPr algn="l" indent="0" marL="0">
              <a:lnSpc>
                <a:spcPct val="100000"/>
              </a:lnSpc>
              <a:buNone/>
            </a:pPr>
            <a:r>
              <a:rPr lang="en-US" sz="975" b="1" dirty="0">
                <a:solidFill>
                  <a:srgbClr val="9A2A1F"/>
                </a:solidFill>
                <a:latin typeface="Georgia" pitchFamily="34" charset="0"/>
                <a:ea typeface="Georgia" pitchFamily="34" charset="-122"/>
                <a:cs typeface="Georgia" pitchFamily="34" charset="-120"/>
              </a:rPr>
              <a:t>04</a:t>
            </a:r>
            <a:endParaRPr lang="en-US" sz="975" dirty="0"/>
          </a:p>
        </p:txBody>
      </p:sp>
      <p:sp>
        <p:nvSpPr>
          <p:cNvPr id="20" name="Text 18"/>
          <p:cNvSpPr/>
          <p:nvPr/>
        </p:nvSpPr>
        <p:spPr>
          <a:xfrm>
            <a:off x="800100" y="3343275"/>
            <a:ext cx="2400300" cy="123825"/>
          </a:xfrm>
          <a:prstGeom prst="rect">
            <a:avLst/>
          </a:prstGeom>
          <a:noFill/>
          <a:ln/>
        </p:spPr>
        <p:txBody>
          <a:bodyPr wrap="square" lIns="0" tIns="0" rIns="0" bIns="0" rtlCol="0" anchor="ctr"/>
          <a:lstStyle/>
          <a:p>
            <a:pPr algn="l" indent="0" marL="0">
              <a:lnSpc>
                <a:spcPct val="100000"/>
              </a:lnSpc>
              <a:buNone/>
            </a:pPr>
            <a:r>
              <a:rPr lang="en-US" sz="975" dirty="0">
                <a:solidFill>
                  <a:srgbClr val="1F1B16"/>
                </a:solidFill>
                <a:latin typeface="Georgia" pitchFamily="34" charset="0"/>
                <a:ea typeface="Georgia" pitchFamily="34" charset="-122"/>
                <a:cs typeface="Georgia" pitchFamily="34" charset="-120"/>
              </a:rPr>
              <a:t>A field guide to the on-call rotation</a:t>
            </a:r>
            <a:endParaRPr lang="en-US" sz="975" dirty="0"/>
          </a:p>
        </p:txBody>
      </p:sp>
      <p:sp>
        <p:nvSpPr>
          <p:cNvPr id="21" name="Text 19"/>
          <p:cNvSpPr/>
          <p:nvPr/>
        </p:nvSpPr>
        <p:spPr>
          <a:xfrm>
            <a:off x="3314700" y="3343275"/>
            <a:ext cx="266700" cy="123825"/>
          </a:xfrm>
          <a:prstGeom prst="rect">
            <a:avLst/>
          </a:prstGeom>
          <a:noFill/>
          <a:ln/>
        </p:spPr>
        <p:txBody>
          <a:bodyPr wrap="square" lIns="0" tIns="0" rIns="0" bIns="0" rtlCol="0" anchor="ctr"/>
          <a:lstStyle/>
          <a:p>
            <a:pPr algn="r" indent="0" marL="0">
              <a:lnSpc>
                <a:spcPct val="100000"/>
              </a:lnSpc>
              <a:buNone/>
            </a:pPr>
            <a:r>
              <a:rPr lang="en-US" sz="750" b="1" dirty="0">
                <a:solidFill>
                  <a:srgbClr val="6B604F"/>
                </a:solidFill>
                <a:latin typeface="Inter" pitchFamily="34" charset="0"/>
                <a:ea typeface="Inter" pitchFamily="34" charset="-122"/>
                <a:cs typeface="Inter" pitchFamily="34" charset="-120"/>
              </a:rPr>
              <a:t>15</a:t>
            </a:r>
            <a:endParaRPr lang="en-US" sz="750" dirty="0"/>
          </a:p>
        </p:txBody>
      </p:sp>
      <p:sp>
        <p:nvSpPr>
          <p:cNvPr id="22" name="Shape 20"/>
          <p:cNvSpPr/>
          <p:nvPr/>
        </p:nvSpPr>
        <p:spPr>
          <a:xfrm>
            <a:off x="457200" y="3600450"/>
            <a:ext cx="3124200" cy="9525"/>
          </a:xfrm>
          <a:prstGeom prst="rect">
            <a:avLst/>
          </a:prstGeom>
          <a:solidFill>
            <a:srgbClr val="C7B998"/>
          </a:solidFill>
          <a:ln/>
        </p:spPr>
      </p:sp>
      <p:sp>
        <p:nvSpPr>
          <p:cNvPr id="23" name="Shape 21"/>
          <p:cNvSpPr/>
          <p:nvPr/>
        </p:nvSpPr>
        <p:spPr>
          <a:xfrm>
            <a:off x="3771900" y="2143125"/>
            <a:ext cx="9525" cy="1838325"/>
          </a:xfrm>
          <a:prstGeom prst="rect">
            <a:avLst/>
          </a:prstGeom>
          <a:solidFill>
            <a:srgbClr val="C7B998"/>
          </a:solidFill>
          <a:ln/>
        </p:spPr>
      </p:sp>
      <p:sp>
        <p:nvSpPr>
          <p:cNvPr id="24" name="Text 22"/>
          <p:cNvSpPr/>
          <p:nvPr/>
        </p:nvSpPr>
        <p:spPr>
          <a:xfrm>
            <a:off x="3971925" y="2143125"/>
            <a:ext cx="228600" cy="247650"/>
          </a:xfrm>
          <a:prstGeom prst="rect">
            <a:avLst/>
          </a:prstGeom>
          <a:noFill/>
          <a:ln/>
        </p:spPr>
        <p:txBody>
          <a:bodyPr wrap="square" lIns="0" tIns="0" rIns="0" bIns="0" rtlCol="0" anchor="ctr"/>
          <a:lstStyle/>
          <a:p>
            <a:pPr algn="l" indent="0" marL="0">
              <a:lnSpc>
                <a:spcPct val="100000"/>
              </a:lnSpc>
              <a:buNone/>
            </a:pPr>
            <a:r>
              <a:rPr lang="en-US" sz="975" b="1" dirty="0">
                <a:solidFill>
                  <a:srgbClr val="9A2A1F"/>
                </a:solidFill>
                <a:latin typeface="Georgia" pitchFamily="34" charset="0"/>
                <a:ea typeface="Georgia" pitchFamily="34" charset="-122"/>
                <a:cs typeface="Georgia" pitchFamily="34" charset="-120"/>
              </a:rPr>
              <a:t>05</a:t>
            </a:r>
            <a:endParaRPr lang="en-US" sz="975" dirty="0"/>
          </a:p>
        </p:txBody>
      </p:sp>
      <p:sp>
        <p:nvSpPr>
          <p:cNvPr id="25" name="Text 23"/>
          <p:cNvSpPr/>
          <p:nvPr/>
        </p:nvSpPr>
        <p:spPr>
          <a:xfrm>
            <a:off x="4314825" y="2143125"/>
            <a:ext cx="2400300" cy="247650"/>
          </a:xfrm>
          <a:prstGeom prst="rect">
            <a:avLst/>
          </a:prstGeom>
          <a:noFill/>
          <a:ln/>
        </p:spPr>
        <p:txBody>
          <a:bodyPr wrap="square" lIns="0" tIns="0" rIns="0" bIns="0" rtlCol="0" anchor="ctr"/>
          <a:lstStyle/>
          <a:p>
            <a:pPr algn="l" indent="0" marL="0">
              <a:lnSpc>
                <a:spcPct val="100000"/>
              </a:lnSpc>
              <a:buNone/>
            </a:pPr>
            <a:r>
              <a:rPr lang="en-US" sz="975" dirty="0">
                <a:solidFill>
                  <a:srgbClr val="1F1B16"/>
                </a:solidFill>
                <a:latin typeface="Georgia" pitchFamily="34" charset="0"/>
                <a:ea typeface="Georgia" pitchFamily="34" charset="-122"/>
                <a:cs typeface="Georgia" pitchFamily="34" charset="-120"/>
              </a:rPr>
              <a:t>Documentation, archaeology, and forgetting</a:t>
            </a:r>
            <a:endParaRPr lang="en-US" sz="975" dirty="0"/>
          </a:p>
        </p:txBody>
      </p:sp>
      <p:sp>
        <p:nvSpPr>
          <p:cNvPr id="26" name="Text 24"/>
          <p:cNvSpPr/>
          <p:nvPr/>
        </p:nvSpPr>
        <p:spPr>
          <a:xfrm>
            <a:off x="6829425" y="2143125"/>
            <a:ext cx="266700" cy="247650"/>
          </a:xfrm>
          <a:prstGeom prst="rect">
            <a:avLst/>
          </a:prstGeom>
          <a:noFill/>
          <a:ln/>
        </p:spPr>
        <p:txBody>
          <a:bodyPr wrap="square" lIns="0" tIns="0" rIns="0" bIns="0" rtlCol="0" anchor="ctr"/>
          <a:lstStyle/>
          <a:p>
            <a:pPr algn="r" indent="0" marL="0">
              <a:lnSpc>
                <a:spcPct val="100000"/>
              </a:lnSpc>
              <a:buNone/>
            </a:pPr>
            <a:r>
              <a:rPr lang="en-US" sz="750" b="1" dirty="0">
                <a:solidFill>
                  <a:srgbClr val="6B604F"/>
                </a:solidFill>
                <a:latin typeface="Inter" pitchFamily="34" charset="0"/>
                <a:ea typeface="Inter" pitchFamily="34" charset="-122"/>
                <a:cs typeface="Inter" pitchFamily="34" charset="-120"/>
              </a:rPr>
              <a:t>19</a:t>
            </a:r>
            <a:endParaRPr lang="en-US" sz="750" dirty="0"/>
          </a:p>
        </p:txBody>
      </p:sp>
      <p:sp>
        <p:nvSpPr>
          <p:cNvPr id="27" name="Shape 25"/>
          <p:cNvSpPr/>
          <p:nvPr/>
        </p:nvSpPr>
        <p:spPr>
          <a:xfrm>
            <a:off x="3971925" y="2524125"/>
            <a:ext cx="3124200" cy="9525"/>
          </a:xfrm>
          <a:prstGeom prst="rect">
            <a:avLst/>
          </a:prstGeom>
          <a:solidFill>
            <a:srgbClr val="C7B998"/>
          </a:solidFill>
          <a:ln/>
        </p:spPr>
      </p:sp>
      <p:sp>
        <p:nvSpPr>
          <p:cNvPr id="28" name="Text 26"/>
          <p:cNvSpPr/>
          <p:nvPr/>
        </p:nvSpPr>
        <p:spPr>
          <a:xfrm>
            <a:off x="3971925" y="2667000"/>
            <a:ext cx="228600" cy="247650"/>
          </a:xfrm>
          <a:prstGeom prst="rect">
            <a:avLst/>
          </a:prstGeom>
          <a:noFill/>
          <a:ln/>
        </p:spPr>
        <p:txBody>
          <a:bodyPr wrap="square" lIns="0" tIns="0" rIns="0" bIns="0" rtlCol="0" anchor="ctr"/>
          <a:lstStyle/>
          <a:p>
            <a:pPr algn="l" indent="0" marL="0">
              <a:lnSpc>
                <a:spcPct val="100000"/>
              </a:lnSpc>
              <a:buNone/>
            </a:pPr>
            <a:r>
              <a:rPr lang="en-US" sz="975" b="1" dirty="0">
                <a:solidFill>
                  <a:srgbClr val="9A2A1F"/>
                </a:solidFill>
                <a:latin typeface="Georgia" pitchFamily="34" charset="0"/>
                <a:ea typeface="Georgia" pitchFamily="34" charset="-122"/>
                <a:cs typeface="Georgia" pitchFamily="34" charset="-120"/>
              </a:rPr>
              <a:t>06</a:t>
            </a:r>
            <a:endParaRPr lang="en-US" sz="975" dirty="0"/>
          </a:p>
        </p:txBody>
      </p:sp>
      <p:sp>
        <p:nvSpPr>
          <p:cNvPr id="29" name="Text 27"/>
          <p:cNvSpPr/>
          <p:nvPr/>
        </p:nvSpPr>
        <p:spPr>
          <a:xfrm>
            <a:off x="4314825" y="2667000"/>
            <a:ext cx="2400300" cy="247650"/>
          </a:xfrm>
          <a:prstGeom prst="rect">
            <a:avLst/>
          </a:prstGeom>
          <a:noFill/>
          <a:ln/>
        </p:spPr>
        <p:txBody>
          <a:bodyPr wrap="square" lIns="0" tIns="0" rIns="0" bIns="0" rtlCol="0" anchor="ctr"/>
          <a:lstStyle/>
          <a:p>
            <a:pPr algn="l" indent="0" marL="0">
              <a:lnSpc>
                <a:spcPct val="100000"/>
              </a:lnSpc>
              <a:buNone/>
            </a:pPr>
            <a:r>
              <a:rPr lang="en-US" sz="975" dirty="0">
                <a:solidFill>
                  <a:srgbClr val="1F1B16"/>
                </a:solidFill>
                <a:latin typeface="Georgia" pitchFamily="34" charset="0"/>
                <a:ea typeface="Georgia" pitchFamily="34" charset="-122"/>
                <a:cs typeface="Georgia" pitchFamily="34" charset="-120"/>
              </a:rPr>
              <a:t>The next ten years are about maintenance</a:t>
            </a:r>
            <a:endParaRPr lang="en-US" sz="975" dirty="0"/>
          </a:p>
        </p:txBody>
      </p:sp>
      <p:sp>
        <p:nvSpPr>
          <p:cNvPr id="30" name="Text 28"/>
          <p:cNvSpPr/>
          <p:nvPr/>
        </p:nvSpPr>
        <p:spPr>
          <a:xfrm>
            <a:off x="6829425" y="2667000"/>
            <a:ext cx="266700" cy="247650"/>
          </a:xfrm>
          <a:prstGeom prst="rect">
            <a:avLst/>
          </a:prstGeom>
          <a:noFill/>
          <a:ln/>
        </p:spPr>
        <p:txBody>
          <a:bodyPr wrap="square" lIns="0" tIns="0" rIns="0" bIns="0" rtlCol="0" anchor="ctr"/>
          <a:lstStyle/>
          <a:p>
            <a:pPr algn="r" indent="0" marL="0">
              <a:lnSpc>
                <a:spcPct val="100000"/>
              </a:lnSpc>
              <a:buNone/>
            </a:pPr>
            <a:r>
              <a:rPr lang="en-US" sz="750" b="1" dirty="0">
                <a:solidFill>
                  <a:srgbClr val="6B604F"/>
                </a:solidFill>
                <a:latin typeface="Inter" pitchFamily="34" charset="0"/>
                <a:ea typeface="Inter" pitchFamily="34" charset="-122"/>
                <a:cs typeface="Inter" pitchFamily="34" charset="-120"/>
              </a:rPr>
              <a:t>24</a:t>
            </a:r>
            <a:endParaRPr lang="en-US" sz="750" dirty="0"/>
          </a:p>
        </p:txBody>
      </p:sp>
      <p:sp>
        <p:nvSpPr>
          <p:cNvPr id="31" name="Shape 29"/>
          <p:cNvSpPr/>
          <p:nvPr/>
        </p:nvSpPr>
        <p:spPr>
          <a:xfrm>
            <a:off x="3971925" y="3048000"/>
            <a:ext cx="3124200" cy="9525"/>
          </a:xfrm>
          <a:prstGeom prst="rect">
            <a:avLst/>
          </a:prstGeom>
          <a:solidFill>
            <a:srgbClr val="C7B998"/>
          </a:solidFill>
          <a:ln/>
        </p:spPr>
      </p:sp>
      <p:sp>
        <p:nvSpPr>
          <p:cNvPr id="32" name="Text 30"/>
          <p:cNvSpPr/>
          <p:nvPr/>
        </p:nvSpPr>
        <p:spPr>
          <a:xfrm>
            <a:off x="3971925" y="3190875"/>
            <a:ext cx="228600" cy="123825"/>
          </a:xfrm>
          <a:prstGeom prst="rect">
            <a:avLst/>
          </a:prstGeom>
          <a:noFill/>
          <a:ln/>
        </p:spPr>
        <p:txBody>
          <a:bodyPr wrap="square" lIns="0" tIns="0" rIns="0" bIns="0" rtlCol="0" anchor="ctr"/>
          <a:lstStyle/>
          <a:p>
            <a:pPr algn="l" indent="0" marL="0">
              <a:lnSpc>
                <a:spcPct val="100000"/>
              </a:lnSpc>
              <a:buNone/>
            </a:pPr>
            <a:r>
              <a:rPr lang="en-US" sz="975" b="1" dirty="0">
                <a:solidFill>
                  <a:srgbClr val="9A2A1F"/>
                </a:solidFill>
                <a:latin typeface="Georgia" pitchFamily="34" charset="0"/>
                <a:ea typeface="Georgia" pitchFamily="34" charset="-122"/>
                <a:cs typeface="Georgia" pitchFamily="34" charset="-120"/>
              </a:rPr>
              <a:t>--</a:t>
            </a:r>
            <a:endParaRPr lang="en-US" sz="975" dirty="0"/>
          </a:p>
        </p:txBody>
      </p:sp>
      <p:sp>
        <p:nvSpPr>
          <p:cNvPr id="33" name="Text 31"/>
          <p:cNvSpPr/>
          <p:nvPr/>
        </p:nvSpPr>
        <p:spPr>
          <a:xfrm>
            <a:off x="4314825" y="3190875"/>
            <a:ext cx="2400300" cy="123825"/>
          </a:xfrm>
          <a:prstGeom prst="rect">
            <a:avLst/>
          </a:prstGeom>
          <a:noFill/>
          <a:ln/>
        </p:spPr>
        <p:txBody>
          <a:bodyPr wrap="square" lIns="0" tIns="0" rIns="0" bIns="0" rtlCol="0" anchor="ctr"/>
          <a:lstStyle/>
          <a:p>
            <a:pPr algn="l" indent="0" marL="0">
              <a:lnSpc>
                <a:spcPct val="100000"/>
              </a:lnSpc>
              <a:buNone/>
            </a:pPr>
            <a:r>
              <a:rPr lang="en-US" sz="975" dirty="0">
                <a:solidFill>
                  <a:srgbClr val="1F1B16"/>
                </a:solidFill>
                <a:latin typeface="Georgia" pitchFamily="34" charset="0"/>
                <a:ea typeface="Georgia" pitchFamily="34" charset="-122"/>
                <a:cs typeface="Georgia" pitchFamily="34" charset="-120"/>
              </a:rPr>
              <a:t>Letters, errata, and a long bibliography</a:t>
            </a:r>
            <a:endParaRPr lang="en-US" sz="975" dirty="0"/>
          </a:p>
        </p:txBody>
      </p:sp>
      <p:sp>
        <p:nvSpPr>
          <p:cNvPr id="34" name="Text 32"/>
          <p:cNvSpPr/>
          <p:nvPr/>
        </p:nvSpPr>
        <p:spPr>
          <a:xfrm>
            <a:off x="6829425" y="3190875"/>
            <a:ext cx="266700" cy="123825"/>
          </a:xfrm>
          <a:prstGeom prst="rect">
            <a:avLst/>
          </a:prstGeom>
          <a:noFill/>
          <a:ln/>
        </p:spPr>
        <p:txBody>
          <a:bodyPr wrap="square" lIns="0" tIns="0" rIns="0" bIns="0" rtlCol="0" anchor="ctr"/>
          <a:lstStyle/>
          <a:p>
            <a:pPr algn="r" indent="0" marL="0">
              <a:lnSpc>
                <a:spcPct val="100000"/>
              </a:lnSpc>
              <a:buNone/>
            </a:pPr>
            <a:r>
              <a:rPr lang="en-US" sz="750" b="1" dirty="0">
                <a:solidFill>
                  <a:srgbClr val="6B604F"/>
                </a:solidFill>
                <a:latin typeface="Inter" pitchFamily="34" charset="0"/>
                <a:ea typeface="Inter" pitchFamily="34" charset="-122"/>
                <a:cs typeface="Inter" pitchFamily="34" charset="-120"/>
              </a:rPr>
              <a:t>29</a:t>
            </a:r>
            <a:endParaRPr lang="en-US" sz="750" dirty="0"/>
          </a:p>
        </p:txBody>
      </p:sp>
      <p:sp>
        <p:nvSpPr>
          <p:cNvPr id="35" name="Shape 33"/>
          <p:cNvSpPr/>
          <p:nvPr/>
        </p:nvSpPr>
        <p:spPr>
          <a:xfrm>
            <a:off x="3971925" y="3448050"/>
            <a:ext cx="3124200" cy="9525"/>
          </a:xfrm>
          <a:prstGeom prst="rect">
            <a:avLst/>
          </a:prstGeom>
          <a:solidFill>
            <a:srgbClr val="C7B998"/>
          </a:solidFill>
          <a:ln/>
        </p:spPr>
      </p:sp>
      <p:sp>
        <p:nvSpPr>
          <p:cNvPr id="36" name="Text 34"/>
          <p:cNvSpPr/>
          <p:nvPr/>
        </p:nvSpPr>
        <p:spPr>
          <a:xfrm>
            <a:off x="3971925" y="3590925"/>
            <a:ext cx="228600" cy="247650"/>
          </a:xfrm>
          <a:prstGeom prst="rect">
            <a:avLst/>
          </a:prstGeom>
          <a:noFill/>
          <a:ln/>
        </p:spPr>
        <p:txBody>
          <a:bodyPr wrap="square" lIns="0" tIns="0" rIns="0" bIns="0" rtlCol="0" anchor="ctr"/>
          <a:lstStyle/>
          <a:p>
            <a:pPr algn="l" indent="0" marL="0">
              <a:lnSpc>
                <a:spcPct val="100000"/>
              </a:lnSpc>
              <a:buNone/>
            </a:pPr>
            <a:r>
              <a:rPr lang="en-US" sz="975" b="1" dirty="0">
                <a:solidFill>
                  <a:srgbClr val="9A2A1F"/>
                </a:solidFill>
                <a:latin typeface="Georgia" pitchFamily="34" charset="0"/>
                <a:ea typeface="Georgia" pitchFamily="34" charset="-122"/>
                <a:cs typeface="Georgia" pitchFamily="34" charset="-120"/>
              </a:rPr>
              <a:t>--</a:t>
            </a:r>
            <a:endParaRPr lang="en-US" sz="975" dirty="0"/>
          </a:p>
        </p:txBody>
      </p:sp>
      <p:sp>
        <p:nvSpPr>
          <p:cNvPr id="37" name="Text 35"/>
          <p:cNvSpPr/>
          <p:nvPr/>
        </p:nvSpPr>
        <p:spPr>
          <a:xfrm>
            <a:off x="4314825" y="3590925"/>
            <a:ext cx="2400300" cy="247650"/>
          </a:xfrm>
          <a:prstGeom prst="rect">
            <a:avLst/>
          </a:prstGeom>
          <a:noFill/>
          <a:ln/>
        </p:spPr>
        <p:txBody>
          <a:bodyPr wrap="square" lIns="0" tIns="0" rIns="0" bIns="0" rtlCol="0" anchor="ctr"/>
          <a:lstStyle/>
          <a:p>
            <a:pPr algn="l" indent="0" marL="0">
              <a:lnSpc>
                <a:spcPct val="100000"/>
              </a:lnSpc>
              <a:buNone/>
            </a:pPr>
            <a:r>
              <a:rPr lang="en-US" sz="975" dirty="0">
                <a:solidFill>
                  <a:srgbClr val="1F1B16"/>
                </a:solidFill>
                <a:latin typeface="Georgia" pitchFamily="34" charset="0"/>
                <a:ea typeface="Georgia" pitchFamily="34" charset="-122"/>
                <a:cs typeface="Georgia" pitchFamily="34" charset="-120"/>
              </a:rPr>
              <a:t>Colophon · production notes · contributors</a:t>
            </a:r>
            <a:endParaRPr lang="en-US" sz="975" dirty="0"/>
          </a:p>
        </p:txBody>
      </p:sp>
      <p:sp>
        <p:nvSpPr>
          <p:cNvPr id="38" name="Text 36"/>
          <p:cNvSpPr/>
          <p:nvPr/>
        </p:nvSpPr>
        <p:spPr>
          <a:xfrm>
            <a:off x="6829425" y="3590925"/>
            <a:ext cx="266700" cy="247650"/>
          </a:xfrm>
          <a:prstGeom prst="rect">
            <a:avLst/>
          </a:prstGeom>
          <a:noFill/>
          <a:ln/>
        </p:spPr>
        <p:txBody>
          <a:bodyPr wrap="square" lIns="0" tIns="0" rIns="0" bIns="0" rtlCol="0" anchor="ctr"/>
          <a:lstStyle/>
          <a:p>
            <a:pPr algn="r" indent="0" marL="0">
              <a:lnSpc>
                <a:spcPct val="100000"/>
              </a:lnSpc>
              <a:buNone/>
            </a:pPr>
            <a:r>
              <a:rPr lang="en-US" sz="750" b="1" dirty="0">
                <a:solidFill>
                  <a:srgbClr val="6B604F"/>
                </a:solidFill>
                <a:latin typeface="Inter" pitchFamily="34" charset="0"/>
                <a:ea typeface="Inter" pitchFamily="34" charset="-122"/>
                <a:cs typeface="Inter" pitchFamily="34" charset="-120"/>
              </a:rPr>
              <a:t>32</a:t>
            </a:r>
            <a:endParaRPr lang="en-US" sz="750" dirty="0"/>
          </a:p>
        </p:txBody>
      </p:sp>
      <p:sp>
        <p:nvSpPr>
          <p:cNvPr id="39" name="Shape 37"/>
          <p:cNvSpPr/>
          <p:nvPr/>
        </p:nvSpPr>
        <p:spPr>
          <a:xfrm>
            <a:off x="3971925" y="3971925"/>
            <a:ext cx="3124200" cy="9525"/>
          </a:xfrm>
          <a:prstGeom prst="rect">
            <a:avLst/>
          </a:prstGeom>
          <a:solidFill>
            <a:srgbClr val="C7B998"/>
          </a:solidFill>
          <a:ln/>
        </p:spPr>
      </p:sp>
      <p:sp>
        <p:nvSpPr>
          <p:cNvPr id="40" name="Text 38"/>
          <p:cNvSpPr/>
          <p:nvPr/>
        </p:nvSpPr>
        <p:spPr>
          <a:xfrm>
            <a:off x="457200" y="4324350"/>
            <a:ext cx="6638925" cy="85725"/>
          </a:xfrm>
          <a:prstGeom prst="rect">
            <a:avLst/>
          </a:prstGeom>
          <a:noFill/>
          <a:ln/>
        </p:spPr>
        <p:txBody>
          <a:bodyPr wrap="square" lIns="0" tIns="0" rIns="0" bIns="0" rtlCol="0" anchor="t"/>
          <a:lstStyle/>
          <a:p>
            <a:pPr algn="l" indent="0" marL="0">
              <a:lnSpc>
                <a:spcPct val="100000"/>
              </a:lnSpc>
              <a:buNone/>
            </a:pPr>
            <a:r>
              <a:rPr lang="en-US" sz="675" b="1" dirty="0">
                <a:solidFill>
                  <a:srgbClr val="9A2A1F"/>
                </a:solidFill>
                <a:latin typeface="Inter" pitchFamily="34" charset="0"/>
                <a:ea typeface="Inter" pitchFamily="34" charset="-122"/>
                <a:cs typeface="Inter" pitchFamily="34" charset="-120"/>
              </a:rPr>
              <a:t>PRODUCTION NOTE</a:t>
            </a:r>
            <a:endParaRPr lang="en-US" sz="675" dirty="0"/>
          </a:p>
        </p:txBody>
      </p:sp>
      <p:sp>
        <p:nvSpPr>
          <p:cNvPr id="41" name="Text 39"/>
          <p:cNvSpPr/>
          <p:nvPr/>
        </p:nvSpPr>
        <p:spPr>
          <a:xfrm>
            <a:off x="457200" y="4505325"/>
            <a:ext cx="6638925" cy="342900"/>
          </a:xfrm>
          <a:prstGeom prst="rect">
            <a:avLst/>
          </a:prstGeom>
          <a:noFill/>
          <a:ln/>
        </p:spPr>
        <p:txBody>
          <a:bodyPr wrap="square" lIns="0" tIns="0" rIns="0" bIns="0" rtlCol="0" anchor="t"/>
          <a:lstStyle/>
          <a:p>
            <a:pPr algn="l" indent="0" marL="0">
              <a:lnSpc>
                <a:spcPct val="150000"/>
              </a:lnSpc>
              <a:buNone/>
            </a:pPr>
            <a:r>
              <a:rPr lang="en-US" sz="900" dirty="0">
                <a:solidFill>
                  <a:srgbClr val="3A332B"/>
                </a:solidFill>
                <a:latin typeface="Georgia" pitchFamily="34" charset="0"/>
                <a:ea typeface="Georgia" pitchFamily="34" charset="-122"/>
                <a:cs typeface="Georgia" pitchFamily="34" charset="-120"/>
              </a:rPr>
              <a:t>Each piece pairs the field report with a </a:t>
            </a:r>
            <a:pPr algn="l" indent="0" marL="0">
              <a:lnSpc>
                <a:spcPct val="150000"/>
              </a:lnSpc>
              <a:buNone/>
            </a:pPr>
            <a:r>
              <a:rPr lang="en-US" sz="900" dirty="0">
                <a:solidFill>
                  <a:srgbClr val="3A332B"/>
                </a:solidFill>
                <a:latin typeface="Georgia" pitchFamily="34" charset="0"/>
                <a:ea typeface="Georgia" pitchFamily="34" charset="-122"/>
                <a:cs typeface="Georgia" pitchFamily="34" charset="-120"/>
              </a:rPr>
              <a:t>graph or table</a:t>
            </a:r>
            <a:pPr algn="l" indent="0" marL="0">
              <a:lnSpc>
                <a:spcPct val="150000"/>
              </a:lnSpc>
              <a:buNone/>
            </a:pPr>
            <a:r>
              <a:rPr lang="en-US" sz="900" dirty="0">
                <a:solidFill>
                  <a:srgbClr val="3A332B"/>
                </a:solidFill>
                <a:latin typeface="Georgia" pitchFamily="34" charset="0"/>
                <a:ea typeface="Georgia" pitchFamily="34" charset="-122"/>
                <a:cs typeface="Georgia" pitchFamily="34" charset="-120"/>
              </a:rPr>
              <a:t> drawn from the underlying incident data. Where a contributor's name is set in red, the piece is co-bylined with the on-call team that lived the event.</a:t>
            </a:r>
            <a:endParaRPr lang="en-US" sz="900" dirty="0"/>
          </a:p>
        </p:txBody>
      </p:sp>
      <p:sp>
        <p:nvSpPr>
          <p:cNvPr id="25" name="Slide Number Placeholder 0"/>
          <p:cNvSpPr>
            <a:spLocks noGrp="1"/>
          </p:cNvSpPr>
          <p:nvPr>
            <p:ph type="sldNum" sz="quarter" idx="4294967295"/>
          </p:nvPr>
        </p:nvSpPr>
        <p:spPr>
          <a:xfrm>
            <a:off x="6667500" y="10248900"/>
            <a:ext cx="419100" cy="171450"/>
          </a:xfrm>
          <a:prstGeom prst="rect">
            <a:avLst/>
          </a:prstGeom>
          <a:extLst>
            <a:ext uri="{C572A759-6A51-4108-AA02-DFA0A04FC94B}">
              <ma14:wrappingTextBoxFlag xmlns:ma14="http://schemas.microsoft.com/office/mac/drawingml/2011/main" val="0"/>
            </a:ext>
          </a:extLst>
        </p:spPr>
        <p:txBody>
          <a:bodyPr/>
          <a:lstStyle>
            <a:lvl1pPr>
              <a:defRPr sz="825">
                <a:solidFill>
                  <a:srgbClr val="1F1B16"/>
                </a:solidFill>
                <a:latin typeface="Inter"/>
                <a:ea typeface="Inter"/>
                <a:cs typeface="Inter"/>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62000"/>
            <a:ext cx="6638925" cy="85725"/>
          </a:xfrm>
          <a:prstGeom prst="rect">
            <a:avLst/>
          </a:prstGeom>
          <a:noFill/>
          <a:ln/>
        </p:spPr>
        <p:txBody>
          <a:bodyPr wrap="square" lIns="0" tIns="0" rIns="0" bIns="0" rtlCol="0" anchor="t"/>
          <a:lstStyle/>
          <a:p>
            <a:pPr algn="l" indent="0" marL="0">
              <a:lnSpc>
                <a:spcPct val="100000"/>
              </a:lnSpc>
              <a:buNone/>
            </a:pPr>
            <a:r>
              <a:rPr lang="en-US" sz="675" b="1" dirty="0">
                <a:solidFill>
                  <a:srgbClr val="9A2A1F"/>
                </a:solidFill>
                <a:latin typeface="Inter" pitchFamily="34" charset="0"/>
                <a:ea typeface="Inter" pitchFamily="34" charset="-122"/>
                <a:cs typeface="Inter" pitchFamily="34" charset="-120"/>
              </a:rPr>
              <a:t>ESSAY · 01</a:t>
            </a:r>
            <a:endParaRPr lang="en-US" sz="675" dirty="0"/>
          </a:p>
        </p:txBody>
      </p:sp>
      <p:sp>
        <p:nvSpPr>
          <p:cNvPr id="3" name="Text 1"/>
          <p:cNvSpPr/>
          <p:nvPr/>
        </p:nvSpPr>
        <p:spPr>
          <a:xfrm>
            <a:off x="457200" y="904875"/>
            <a:ext cx="5715000" cy="885825"/>
          </a:xfrm>
          <a:prstGeom prst="rect">
            <a:avLst/>
          </a:prstGeom>
          <a:noFill/>
          <a:ln/>
        </p:spPr>
        <p:txBody>
          <a:bodyPr wrap="square" lIns="0" tIns="0" rIns="0" bIns="0" rtlCol="0" anchor="t"/>
          <a:lstStyle/>
          <a:p>
            <a:pPr algn="l" indent="0" marL="0">
              <a:lnSpc>
                <a:spcPct val="110000"/>
              </a:lnSpc>
              <a:buNone/>
            </a:pPr>
            <a:r>
              <a:rPr lang="en-US" sz="3150" dirty="0">
                <a:solidFill>
                  <a:srgbClr val="1F1B16"/>
                </a:solidFill>
                <a:latin typeface="Georgia" pitchFamily="34" charset="0"/>
                <a:ea typeface="Georgia" pitchFamily="34" charset="-122"/>
                <a:cs typeface="Georgia" pitchFamily="34" charset="-120"/>
              </a:rPr>
              <a:t>After the launch, the slow work.</a:t>
            </a:r>
            <a:endParaRPr lang="en-US" sz="3150" dirty="0"/>
          </a:p>
        </p:txBody>
      </p:sp>
      <p:sp>
        <p:nvSpPr>
          <p:cNvPr id="4" name="Text 2"/>
          <p:cNvSpPr/>
          <p:nvPr/>
        </p:nvSpPr>
        <p:spPr>
          <a:xfrm>
            <a:off x="457200" y="1838325"/>
            <a:ext cx="6638925" cy="123825"/>
          </a:xfrm>
          <a:prstGeom prst="rect">
            <a:avLst/>
          </a:prstGeom>
          <a:noFill/>
          <a:ln/>
        </p:spPr>
        <p:txBody>
          <a:bodyPr wrap="square" lIns="0" tIns="0" rIns="0" bIns="0" rtlCol="0" anchor="t"/>
          <a:lstStyle/>
          <a:p>
            <a:pPr algn="l" indent="0" marL="0">
              <a:lnSpc>
                <a:spcPct val="130000"/>
              </a:lnSpc>
              <a:buNone/>
            </a:pPr>
            <a:r>
              <a:rPr lang="en-US" sz="750" i="1" dirty="0">
                <a:solidFill>
                  <a:srgbClr val="6B604F"/>
                </a:solidFill>
                <a:latin typeface="Inter" pitchFamily="34" charset="0"/>
                <a:ea typeface="Inter" pitchFamily="34" charset="-122"/>
                <a:cs typeface="Inter" pitchFamily="34" charset="-120"/>
              </a:rPr>
              <a:t>By Mara Olsen · 14 February 2026</a:t>
            </a:r>
            <a:endParaRPr lang="en-US" sz="750" dirty="0"/>
          </a:p>
        </p:txBody>
      </p:sp>
      <p:sp>
        <p:nvSpPr>
          <p:cNvPr id="5" name="Shape 3"/>
          <p:cNvSpPr/>
          <p:nvPr/>
        </p:nvSpPr>
        <p:spPr>
          <a:xfrm>
            <a:off x="457200" y="2171700"/>
            <a:ext cx="6638925" cy="19050"/>
          </a:xfrm>
          <a:prstGeom prst="rect">
            <a:avLst/>
          </a:prstGeom>
          <a:solidFill>
            <a:srgbClr val="1F1B16"/>
          </a:solidFill>
          <a:ln/>
        </p:spPr>
      </p:sp>
      <p:sp>
        <p:nvSpPr>
          <p:cNvPr id="6" name="Text 4"/>
          <p:cNvSpPr/>
          <p:nvPr/>
        </p:nvSpPr>
        <p:spPr>
          <a:xfrm>
            <a:off x="457200" y="2400300"/>
            <a:ext cx="3048000" cy="762000"/>
          </a:xfrm>
          <a:prstGeom prst="rect">
            <a:avLst/>
          </a:prstGeom>
          <a:noFill/>
          <a:ln/>
        </p:spPr>
        <p:txBody>
          <a:bodyPr wrap="square" lIns="0" tIns="0" rIns="0" bIns="0" rtlCol="0" anchor="t"/>
          <a:lstStyle/>
          <a:p>
            <a:pPr algn="l" indent="0" marL="0">
              <a:lnSpc>
                <a:spcPct val="120000"/>
              </a:lnSpc>
              <a:buNone/>
            </a:pPr>
            <a:r>
              <a:rPr lang="en-US" sz="1650" b="1" dirty="0">
                <a:solidFill>
                  <a:srgbClr val="9A2A1F"/>
                </a:solidFill>
                <a:latin typeface="Georgia" pitchFamily="34" charset="0"/>
                <a:ea typeface="Georgia" pitchFamily="34" charset="-122"/>
                <a:cs typeface="Georgia" pitchFamily="34" charset="-120"/>
              </a:rPr>
              <a:t>The most photographed moment of a release is the launch day.</a:t>
            </a:r>
            <a:endParaRPr lang="en-US" sz="1650" dirty="0"/>
          </a:p>
        </p:txBody>
      </p:sp>
      <p:sp>
        <p:nvSpPr>
          <p:cNvPr id="7" name="Text 5"/>
          <p:cNvSpPr/>
          <p:nvPr/>
        </p:nvSpPr>
        <p:spPr>
          <a:xfrm>
            <a:off x="457200" y="3286125"/>
            <a:ext cx="3048000" cy="885825"/>
          </a:xfrm>
          <a:prstGeom prst="rect">
            <a:avLst/>
          </a:prstGeom>
          <a:noFill/>
          <a:ln/>
        </p:spPr>
        <p:txBody>
          <a:bodyPr wrap="square" lIns="0" tIns="0" rIns="0" bIns="0" rtlCol="0" anchor="t"/>
          <a:lstStyle/>
          <a:p>
            <a:pPr algn="l" indent="0" marL="0">
              <a:lnSpc>
                <a:spcPct val="155000"/>
              </a:lnSpc>
              <a:buNone/>
            </a:pPr>
            <a:r>
              <a:rPr lang="en-US" sz="900" dirty="0">
                <a:solidFill>
                  <a:srgbClr val="3A332B"/>
                </a:solidFill>
                <a:latin typeface="Georgia" pitchFamily="34" charset="0"/>
                <a:ea typeface="Georgia" pitchFamily="34" charset="-122"/>
                <a:cs typeface="Georgia" pitchFamily="34" charset="-120"/>
              </a:rPr>
              <a:t>The work that actually defines whether the release was good — the year that follows — gets almost no coverage. We've been counting hours, in seven companies, in the months after a shipped feature, to understand where they really go.</a:t>
            </a:r>
            <a:endParaRPr lang="en-US" sz="900" dirty="0"/>
          </a:p>
        </p:txBody>
      </p:sp>
      <p:sp>
        <p:nvSpPr>
          <p:cNvPr id="8" name="Text 6"/>
          <p:cNvSpPr/>
          <p:nvPr/>
        </p:nvSpPr>
        <p:spPr>
          <a:xfrm>
            <a:off x="457200" y="4305300"/>
            <a:ext cx="3048000" cy="1028700"/>
          </a:xfrm>
          <a:prstGeom prst="rect">
            <a:avLst/>
          </a:prstGeom>
          <a:noFill/>
          <a:ln/>
        </p:spPr>
        <p:txBody>
          <a:bodyPr wrap="square" lIns="0" tIns="0" rIns="0" bIns="0" rtlCol="0" anchor="t"/>
          <a:lstStyle/>
          <a:p>
            <a:pPr algn="l" indent="0" marL="0">
              <a:lnSpc>
                <a:spcPct val="150000"/>
              </a:lnSpc>
              <a:buNone/>
            </a:pPr>
            <a:r>
              <a:rPr lang="en-US" sz="900" dirty="0">
                <a:solidFill>
                  <a:srgbClr val="3A332B"/>
                </a:solidFill>
                <a:latin typeface="Georgia" pitchFamily="34" charset="0"/>
                <a:ea typeface="Georgia" pitchFamily="34" charset="-122"/>
                <a:cs typeface="Georgia" pitchFamily="34" charset="-120"/>
              </a:rPr>
              <a:t>What we found is consistent enough to call a pattern. The launch is the cheap part. </a:t>
            </a:r>
            <a:pPr algn="l" indent="0" marL="0">
              <a:lnSpc>
                <a:spcPct val="150000"/>
              </a:lnSpc>
              <a:buNone/>
            </a:pPr>
            <a:r>
              <a:rPr lang="en-US" sz="900" dirty="0">
                <a:solidFill>
                  <a:srgbClr val="3A332B"/>
                </a:solidFill>
                <a:latin typeface="Georgia" pitchFamily="34" charset="0"/>
                <a:ea typeface="Georgia" pitchFamily="34" charset="-122"/>
                <a:cs typeface="Georgia" pitchFamily="34" charset="-120"/>
              </a:rPr>
              <a:t>Eighty-two percent</a:t>
            </a:r>
            <a:pPr algn="l" indent="0" marL="0">
              <a:lnSpc>
                <a:spcPct val="150000"/>
              </a:lnSpc>
              <a:buNone/>
            </a:pPr>
            <a:r>
              <a:rPr lang="en-US" sz="900" dirty="0">
                <a:solidFill>
                  <a:srgbClr val="3A332B"/>
                </a:solidFill>
                <a:latin typeface="Georgia" pitchFamily="34" charset="0"/>
                <a:ea typeface="Georgia" pitchFamily="34" charset="-122"/>
                <a:cs typeface="Georgia" pitchFamily="34" charset="-120"/>
              </a:rPr>
              <a:t> of the lifetime engineering effort on a customer-facing feature is spent after the marketing campaign ends — on the quiet work of keeping the thing running, growing, and honest.</a:t>
            </a:r>
            <a:endParaRPr lang="en-US" sz="900" dirty="0"/>
          </a:p>
        </p:txBody>
      </p:sp>
      <p:sp>
        <p:nvSpPr>
          <p:cNvPr id="9" name="Shape 7"/>
          <p:cNvSpPr/>
          <p:nvPr/>
        </p:nvSpPr>
        <p:spPr>
          <a:xfrm>
            <a:off x="457200" y="5467350"/>
            <a:ext cx="19050" cy="1266825"/>
          </a:xfrm>
          <a:prstGeom prst="rect">
            <a:avLst/>
          </a:prstGeom>
          <a:solidFill>
            <a:srgbClr val="9A2A1F"/>
          </a:solidFill>
          <a:ln/>
        </p:spPr>
      </p:sp>
      <p:sp>
        <p:nvSpPr>
          <p:cNvPr id="10" name="Text 8"/>
          <p:cNvSpPr/>
          <p:nvPr/>
        </p:nvSpPr>
        <p:spPr>
          <a:xfrm>
            <a:off x="666750" y="5467350"/>
            <a:ext cx="2838450" cy="1095375"/>
          </a:xfrm>
          <a:prstGeom prst="rect">
            <a:avLst/>
          </a:prstGeom>
          <a:noFill/>
          <a:ln/>
        </p:spPr>
        <p:txBody>
          <a:bodyPr wrap="square" lIns="0" tIns="0" rIns="0" bIns="0" rtlCol="0" anchor="t"/>
          <a:lstStyle/>
          <a:p>
            <a:pPr algn="l" indent="0" marL="0">
              <a:lnSpc>
                <a:spcPct val="130000"/>
              </a:lnSpc>
              <a:buNone/>
            </a:pPr>
            <a:r>
              <a:rPr lang="en-US" sz="1650" i="1" dirty="0">
                <a:solidFill>
                  <a:srgbClr val="1F1B16"/>
                </a:solidFill>
                <a:latin typeface="Georgia" pitchFamily="34" charset="0"/>
                <a:ea typeface="Georgia" pitchFamily="34" charset="-122"/>
                <a:cs typeface="Georgia" pitchFamily="34" charset="-120"/>
              </a:rPr>
              <a:t>"We deleted four internal services on the first day. We added six in the next year."</a:t>
            </a:r>
            <a:endParaRPr lang="en-US" sz="1650" dirty="0"/>
          </a:p>
        </p:txBody>
      </p:sp>
      <p:sp>
        <p:nvSpPr>
          <p:cNvPr id="11" name="Text 9"/>
          <p:cNvSpPr/>
          <p:nvPr/>
        </p:nvSpPr>
        <p:spPr>
          <a:xfrm>
            <a:off x="666750" y="6629400"/>
            <a:ext cx="2838450" cy="104775"/>
          </a:xfrm>
          <a:prstGeom prst="rect">
            <a:avLst/>
          </a:prstGeom>
          <a:noFill/>
          <a:ln/>
        </p:spPr>
        <p:txBody>
          <a:bodyPr wrap="square" lIns="0" tIns="0" rIns="0" bIns="0" rtlCol="0" anchor="t"/>
          <a:lstStyle/>
          <a:p>
            <a:pPr algn="l" indent="0" marL="0">
              <a:lnSpc>
                <a:spcPct val="120000"/>
              </a:lnSpc>
              <a:buNone/>
            </a:pPr>
            <a:r>
              <a:rPr lang="en-US" sz="675" b="1" dirty="0">
                <a:solidFill>
                  <a:srgbClr val="6B604F"/>
                </a:solidFill>
                <a:latin typeface="Inter" pitchFamily="34" charset="0"/>
                <a:ea typeface="Inter" pitchFamily="34" charset="-122"/>
                <a:cs typeface="Inter" pitchFamily="34" charset="-120"/>
              </a:rPr>
              <a:t>— Director of Platform, Series-B fintech</a:t>
            </a:r>
            <a:endParaRPr lang="en-US" sz="675" dirty="0"/>
          </a:p>
        </p:txBody>
      </p:sp>
      <p:sp>
        <p:nvSpPr>
          <p:cNvPr id="12" name="Text 10"/>
          <p:cNvSpPr/>
          <p:nvPr/>
        </p:nvSpPr>
        <p:spPr>
          <a:xfrm>
            <a:off x="457200" y="6867525"/>
            <a:ext cx="3048000" cy="857250"/>
          </a:xfrm>
          <a:prstGeom prst="rect">
            <a:avLst/>
          </a:prstGeom>
          <a:noFill/>
          <a:ln/>
        </p:spPr>
        <p:txBody>
          <a:bodyPr wrap="square" lIns="0" tIns="0" rIns="0" bIns="0" rtlCol="0" anchor="t"/>
          <a:lstStyle/>
          <a:p>
            <a:pPr algn="l" indent="0" marL="0">
              <a:lnSpc>
                <a:spcPct val="150000"/>
              </a:lnSpc>
              <a:buNone/>
            </a:pPr>
            <a:r>
              <a:rPr lang="en-US" sz="900" dirty="0">
                <a:solidFill>
                  <a:srgbClr val="3A332B"/>
                </a:solidFill>
                <a:latin typeface="Georgia" pitchFamily="34" charset="0"/>
                <a:ea typeface="Georgia" pitchFamily="34" charset="-122"/>
                <a:cs typeface="Georgia" pitchFamily="34" charset="-120"/>
              </a:rPr>
              <a:t>The shape of that effort is unlike the shape of building it. There are no sprints. The work arrives at irregular intervals, in fragments, often as the consequence of decisions made months earlier. It does not photograph well.</a:t>
            </a:r>
            <a:endParaRPr lang="en-US" sz="900" dirty="0"/>
          </a:p>
        </p:txBody>
      </p:sp>
      <p:sp>
        <p:nvSpPr>
          <p:cNvPr id="13" name="Shape 11"/>
          <p:cNvSpPr/>
          <p:nvPr/>
        </p:nvSpPr>
        <p:spPr>
          <a:xfrm>
            <a:off x="3771900" y="2400300"/>
            <a:ext cx="9525" cy="5334000"/>
          </a:xfrm>
          <a:prstGeom prst="rect">
            <a:avLst/>
          </a:prstGeom>
          <a:solidFill>
            <a:srgbClr val="C7B998"/>
          </a:solidFill>
          <a:ln/>
        </p:spPr>
      </p:sp>
      <p:sp>
        <p:nvSpPr>
          <p:cNvPr id="14" name="Shape 12"/>
          <p:cNvSpPr/>
          <p:nvPr/>
        </p:nvSpPr>
        <p:spPr>
          <a:xfrm>
            <a:off x="4048125" y="2400300"/>
            <a:ext cx="3048000" cy="2095500"/>
          </a:xfrm>
          <a:prstGeom prst="roundRect">
            <a:avLst>
              <a:gd name="adj" fmla="val 793"/>
            </a:avLst>
          </a:prstGeom>
          <a:solidFill>
            <a:srgbClr val="E4DCC6"/>
          </a:solidFill>
          <a:ln/>
        </p:spPr>
      </p:sp>
      <p:sp>
        <p:nvSpPr>
          <p:cNvPr id="15" name="Text 13"/>
          <p:cNvSpPr/>
          <p:nvPr/>
        </p:nvSpPr>
        <p:spPr>
          <a:xfrm>
            <a:off x="4924425" y="3381375"/>
            <a:ext cx="1295400" cy="133350"/>
          </a:xfrm>
          <a:prstGeom prst="rect">
            <a:avLst/>
          </a:prstGeom>
          <a:noFill/>
          <a:ln/>
        </p:spPr>
        <p:txBody>
          <a:bodyPr wrap="square" lIns="0" tIns="0" rIns="0" bIns="0" rtlCol="0" anchor="t"/>
          <a:lstStyle/>
          <a:p>
            <a:pPr algn="l" indent="0" marL="0">
              <a:lnSpc>
                <a:spcPct val="100000"/>
              </a:lnSpc>
              <a:buNone/>
            </a:pPr>
            <a:r>
              <a:rPr lang="en-US" sz="1050" i="1" dirty="0">
                <a:solidFill>
                  <a:srgbClr val="6B604F"/>
                </a:solidFill>
                <a:latin typeface="Georgia" pitchFamily="34" charset="0"/>
                <a:ea typeface="Georgia" pitchFamily="34" charset="-122"/>
                <a:cs typeface="Georgia" pitchFamily="34" charset="-120"/>
              </a:rPr>
              <a:t>[chart placeholder]</a:t>
            </a:r>
            <a:endParaRPr lang="en-US" sz="1050" dirty="0"/>
          </a:p>
        </p:txBody>
      </p:sp>
      <p:sp>
        <p:nvSpPr>
          <p:cNvPr id="16" name="Text 14"/>
          <p:cNvSpPr/>
          <p:nvPr/>
        </p:nvSpPr>
        <p:spPr>
          <a:xfrm>
            <a:off x="4048125" y="4572000"/>
            <a:ext cx="3048000" cy="209550"/>
          </a:xfrm>
          <a:prstGeom prst="rect">
            <a:avLst/>
          </a:prstGeom>
          <a:noFill/>
          <a:ln/>
        </p:spPr>
        <p:txBody>
          <a:bodyPr wrap="square" lIns="0" tIns="0" rIns="0" bIns="0" rtlCol="0" anchor="t"/>
          <a:lstStyle/>
          <a:p>
            <a:pPr algn="l" indent="0" marL="0">
              <a:lnSpc>
                <a:spcPct val="120000"/>
              </a:lnSpc>
              <a:buNone/>
            </a:pPr>
            <a:r>
              <a:rPr lang="en-US" sz="675" b="1" dirty="0">
                <a:solidFill>
                  <a:srgbClr val="6B604F"/>
                </a:solidFill>
                <a:latin typeface="Inter" pitchFamily="34" charset="0"/>
                <a:ea typeface="Inter" pitchFamily="34" charset="-122"/>
                <a:cs typeface="Inter" pitchFamily="34" charset="-120"/>
              </a:rPr>
              <a:t>FIGURE 01  ·  Lifetime engineering hours per feature, normalised. n = 142 features across 7 companies.</a:t>
            </a:r>
            <a:endParaRPr lang="en-US" sz="675" dirty="0"/>
          </a:p>
        </p:txBody>
      </p:sp>
      <p:sp>
        <p:nvSpPr>
          <p:cNvPr id="17" name="Text 15"/>
          <p:cNvSpPr/>
          <p:nvPr/>
        </p:nvSpPr>
        <p:spPr>
          <a:xfrm>
            <a:off x="4048125" y="4914900"/>
            <a:ext cx="3048000" cy="419100"/>
          </a:xfrm>
          <a:prstGeom prst="rect">
            <a:avLst/>
          </a:prstGeom>
          <a:noFill/>
          <a:ln/>
        </p:spPr>
        <p:txBody>
          <a:bodyPr wrap="square" lIns="0" tIns="0" rIns="0" bIns="0" rtlCol="0" anchor="t"/>
          <a:lstStyle/>
          <a:p>
            <a:pPr algn="l" indent="0" marL="0">
              <a:lnSpc>
                <a:spcPct val="100000"/>
              </a:lnSpc>
              <a:buNone/>
            </a:pPr>
            <a:r>
              <a:rPr lang="en-US" sz="3300" b="1" dirty="0">
                <a:solidFill>
                  <a:srgbClr val="1F1B16"/>
                </a:solidFill>
                <a:latin typeface="Georgia" pitchFamily="34" charset="0"/>
                <a:ea typeface="Georgia" pitchFamily="34" charset="-122"/>
                <a:cs typeface="Georgia" pitchFamily="34" charset="-120"/>
              </a:rPr>
              <a:t>82%</a:t>
            </a:r>
            <a:endParaRPr lang="en-US" sz="3300" dirty="0"/>
          </a:p>
        </p:txBody>
      </p:sp>
      <p:sp>
        <p:nvSpPr>
          <p:cNvPr id="18" name="Text 16"/>
          <p:cNvSpPr/>
          <p:nvPr/>
        </p:nvSpPr>
        <p:spPr>
          <a:xfrm>
            <a:off x="4048125" y="5372100"/>
            <a:ext cx="3048000" cy="104775"/>
          </a:xfrm>
          <a:prstGeom prst="rect">
            <a:avLst/>
          </a:prstGeom>
          <a:noFill/>
          <a:ln/>
        </p:spPr>
        <p:txBody>
          <a:bodyPr wrap="square" lIns="0" tIns="0" rIns="0" bIns="0" rtlCol="0" anchor="t"/>
          <a:lstStyle/>
          <a:p>
            <a:pPr algn="l" indent="0" marL="0">
              <a:lnSpc>
                <a:spcPct val="120000"/>
              </a:lnSpc>
              <a:buNone/>
            </a:pPr>
            <a:r>
              <a:rPr lang="en-US" sz="675" b="1" dirty="0">
                <a:solidFill>
                  <a:srgbClr val="6B604F"/>
                </a:solidFill>
                <a:latin typeface="Inter" pitchFamily="34" charset="0"/>
                <a:ea typeface="Inter" pitchFamily="34" charset="-122"/>
                <a:cs typeface="Inter" pitchFamily="34" charset="-120"/>
              </a:rPr>
              <a:t>OF LIFETIME EFFORT</a:t>
            </a:r>
            <a:endParaRPr lang="en-US" sz="675" dirty="0"/>
          </a:p>
        </p:txBody>
      </p:sp>
      <p:sp>
        <p:nvSpPr>
          <p:cNvPr id="19" name="Text 17"/>
          <p:cNvSpPr/>
          <p:nvPr/>
        </p:nvSpPr>
        <p:spPr>
          <a:xfrm>
            <a:off x="4048125" y="5505450"/>
            <a:ext cx="3048000" cy="342900"/>
          </a:xfrm>
          <a:prstGeom prst="rect">
            <a:avLst/>
          </a:prstGeom>
          <a:noFill/>
          <a:ln/>
        </p:spPr>
        <p:txBody>
          <a:bodyPr wrap="square" lIns="0" tIns="0" rIns="0" bIns="0" rtlCol="0" anchor="t"/>
          <a:lstStyle/>
          <a:p>
            <a:pPr algn="l" indent="0" marL="0">
              <a:lnSpc>
                <a:spcPct val="145000"/>
              </a:lnSpc>
              <a:buNone/>
            </a:pPr>
            <a:r>
              <a:rPr lang="en-US" sz="900" i="1" dirty="0">
                <a:solidFill>
                  <a:srgbClr val="6B604F"/>
                </a:solidFill>
                <a:latin typeface="Georgia" pitchFamily="34" charset="0"/>
                <a:ea typeface="Georgia" pitchFamily="34" charset="-122"/>
                <a:cs typeface="Georgia" pitchFamily="34" charset="-120"/>
              </a:rPr>
              <a:t>Post-launch maintenance, growth iteration, and refactor work. 2024 cohort.</a:t>
            </a:r>
            <a:endParaRPr lang="en-US" sz="900" dirty="0"/>
          </a:p>
        </p:txBody>
      </p:sp>
      <p:sp>
        <p:nvSpPr>
          <p:cNvPr id="20" name="Shape 18"/>
          <p:cNvSpPr/>
          <p:nvPr/>
        </p:nvSpPr>
        <p:spPr>
          <a:xfrm>
            <a:off x="4048125" y="5972175"/>
            <a:ext cx="3048000" cy="9525"/>
          </a:xfrm>
          <a:prstGeom prst="rect">
            <a:avLst/>
          </a:prstGeom>
          <a:solidFill>
            <a:srgbClr val="C7B998"/>
          </a:solidFill>
          <a:ln/>
        </p:spPr>
      </p:sp>
      <p:sp>
        <p:nvSpPr>
          <p:cNvPr id="21" name="Text 19"/>
          <p:cNvSpPr/>
          <p:nvPr/>
        </p:nvSpPr>
        <p:spPr>
          <a:xfrm>
            <a:off x="4048125" y="6115050"/>
            <a:ext cx="3048000" cy="828675"/>
          </a:xfrm>
          <a:prstGeom prst="rect">
            <a:avLst/>
          </a:prstGeom>
          <a:noFill/>
          <a:ln/>
        </p:spPr>
        <p:txBody>
          <a:bodyPr wrap="square" lIns="0" tIns="0" rIns="0" bIns="0" rtlCol="0" anchor="t"/>
          <a:lstStyle/>
          <a:p>
            <a:pPr algn="l" indent="0" marL="0">
              <a:lnSpc>
                <a:spcPct val="145000"/>
              </a:lnSpc>
              <a:buNone/>
            </a:pPr>
            <a:r>
              <a:rPr lang="en-US" sz="900" i="1" dirty="0">
                <a:solidFill>
                  <a:srgbClr val="6B604F"/>
                </a:solidFill>
                <a:latin typeface="Georgia" pitchFamily="34" charset="0"/>
                <a:ea typeface="Georgia" pitchFamily="34" charset="-122"/>
                <a:cs typeface="Georgia" pitchFamily="34" charset="-120"/>
              </a:rPr>
              <a:t>The numbers come from a private survey of platform-engineering leads we conducted across the second half of 2025. The full methodology, every interview transcript, and the underlying data are in the supplement.</a:t>
            </a:r>
            <a:endParaRPr lang="en-US" sz="900" dirty="0"/>
          </a:p>
        </p:txBody>
      </p:sp>
      <p:sp>
        <p:nvSpPr>
          <p:cNvPr id="22" name="Text 20"/>
          <p:cNvSpPr/>
          <p:nvPr/>
        </p:nvSpPr>
        <p:spPr>
          <a:xfrm>
            <a:off x="4048125" y="7077075"/>
            <a:ext cx="3048000" cy="228600"/>
          </a:xfrm>
          <a:prstGeom prst="rect">
            <a:avLst/>
          </a:prstGeom>
          <a:noFill/>
          <a:ln/>
        </p:spPr>
        <p:txBody>
          <a:bodyPr wrap="square" lIns="0" tIns="0" rIns="0" bIns="0" rtlCol="0" anchor="t"/>
          <a:lstStyle/>
          <a:p>
            <a:pPr algn="l" indent="0" marL="0">
              <a:lnSpc>
                <a:spcPct val="130000"/>
              </a:lnSpc>
              <a:buNone/>
            </a:pPr>
            <a:r>
              <a:rPr lang="en-US" sz="675" i="1" dirty="0">
                <a:solidFill>
                  <a:srgbClr val="6B604F"/>
                </a:solidFill>
                <a:latin typeface="Inter" pitchFamily="34" charset="0"/>
                <a:ea typeface="Inter" pitchFamily="34" charset="-122"/>
                <a:cs typeface="Inter" pitchFamily="34" charset="-120"/>
              </a:rPr>
              <a:t>1.</a:t>
            </a:r>
            <a:pPr algn="l" indent="0" marL="0">
              <a:lnSpc>
                <a:spcPct val="130000"/>
              </a:lnSpc>
              <a:buNone/>
            </a:pPr>
            <a:r>
              <a:rPr lang="en-US" sz="675" i="1" dirty="0">
                <a:solidFill>
                  <a:srgbClr val="6B604F"/>
                </a:solidFill>
                <a:latin typeface="Inter" pitchFamily="34" charset="0"/>
                <a:ea typeface="Inter" pitchFamily="34" charset="-122"/>
                <a:cs typeface="Inter" pitchFamily="34" charset="-120"/>
              </a:rPr>
              <a:t> Lifetime is bounded at 36 months from GA. Features still in active growth at month 36 are excluded from the median calculation.</a:t>
            </a:r>
            <a:endParaRPr lang="en-US" sz="675" dirty="0"/>
          </a:p>
        </p:txBody>
      </p:sp>
      <p:sp>
        <p:nvSpPr>
          <p:cNvPr id="25" name="Slide Number Placeholder 0"/>
          <p:cNvSpPr>
            <a:spLocks noGrp="1"/>
          </p:cNvSpPr>
          <p:nvPr>
            <p:ph type="sldNum" sz="quarter" idx="4294967295"/>
          </p:nvPr>
        </p:nvSpPr>
        <p:spPr>
          <a:xfrm>
            <a:off x="6667500" y="10248900"/>
            <a:ext cx="419100" cy="171450"/>
          </a:xfrm>
          <a:prstGeom prst="rect">
            <a:avLst/>
          </a:prstGeom>
          <a:extLst>
            <a:ext uri="{C572A759-6A51-4108-AA02-DFA0A04FC94B}">
              <ma14:wrappingTextBoxFlag xmlns:ma14="http://schemas.microsoft.com/office/mac/drawingml/2011/main" val="0"/>
            </a:ext>
          </a:extLst>
        </p:spPr>
        <p:txBody>
          <a:bodyPr/>
          <a:lstStyle>
            <a:lvl1pPr>
              <a:defRPr sz="825">
                <a:solidFill>
                  <a:srgbClr val="1F1B16"/>
                </a:solidFill>
                <a:latin typeface="Inter"/>
                <a:ea typeface="Inter"/>
                <a:cs typeface="Inter"/>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800100"/>
            <a:ext cx="133350" cy="19050"/>
          </a:xfrm>
          <a:prstGeom prst="rect">
            <a:avLst/>
          </a:prstGeom>
          <a:solidFill>
            <a:srgbClr val="9A2A1F"/>
          </a:solidFill>
          <a:ln/>
        </p:spPr>
      </p:sp>
      <p:sp>
        <p:nvSpPr>
          <p:cNvPr id="3" name="Text 1"/>
          <p:cNvSpPr/>
          <p:nvPr/>
        </p:nvSpPr>
        <p:spPr>
          <a:xfrm>
            <a:off x="666750" y="762000"/>
            <a:ext cx="6429375" cy="85725"/>
          </a:xfrm>
          <a:prstGeom prst="rect">
            <a:avLst/>
          </a:prstGeom>
          <a:noFill/>
          <a:ln/>
        </p:spPr>
        <p:txBody>
          <a:bodyPr wrap="square" lIns="0" tIns="0" rIns="0" bIns="0" rtlCol="0" anchor="t"/>
          <a:lstStyle/>
          <a:p>
            <a:pPr algn="l" indent="0" marL="0">
              <a:lnSpc>
                <a:spcPct val="100000"/>
              </a:lnSpc>
              <a:buNone/>
            </a:pPr>
            <a:r>
              <a:rPr lang="en-US" sz="675" b="1" dirty="0">
                <a:solidFill>
                  <a:srgbClr val="9A2A1F"/>
                </a:solidFill>
                <a:latin typeface="Inter" pitchFamily="34" charset="0"/>
                <a:ea typeface="Inter" pitchFamily="34" charset="-122"/>
                <a:cs typeface="Inter" pitchFamily="34" charset="-120"/>
              </a:rPr>
              <a:t>ESSAY · 02</a:t>
            </a:r>
            <a:endParaRPr lang="en-US" sz="675" dirty="0"/>
          </a:p>
        </p:txBody>
      </p:sp>
      <p:sp>
        <p:nvSpPr>
          <p:cNvPr id="4" name="Text 2"/>
          <p:cNvSpPr/>
          <p:nvPr/>
        </p:nvSpPr>
        <p:spPr>
          <a:xfrm>
            <a:off x="457200" y="904875"/>
            <a:ext cx="6638925" cy="333375"/>
          </a:xfrm>
          <a:prstGeom prst="rect">
            <a:avLst/>
          </a:prstGeom>
          <a:noFill/>
          <a:ln/>
        </p:spPr>
        <p:txBody>
          <a:bodyPr wrap="square" lIns="0" tIns="0" rIns="0" bIns="0" rtlCol="0" anchor="t"/>
          <a:lstStyle/>
          <a:p>
            <a:pPr algn="l" indent="0" marL="0">
              <a:lnSpc>
                <a:spcPct val="115000"/>
              </a:lnSpc>
              <a:buNone/>
            </a:pPr>
            <a:r>
              <a:rPr lang="en-US" sz="2250" dirty="0">
                <a:solidFill>
                  <a:srgbClr val="1F1B16"/>
                </a:solidFill>
                <a:latin typeface="Georgia" pitchFamily="34" charset="0"/>
                <a:ea typeface="Georgia" pitchFamily="34" charset="-122"/>
                <a:cs typeface="Georgia" pitchFamily="34" charset="-120"/>
              </a:rPr>
              <a:t>The shape of operational debt.</a:t>
            </a:r>
            <a:endParaRPr lang="en-US" sz="2250" dirty="0"/>
          </a:p>
        </p:txBody>
      </p:sp>
      <p:sp>
        <p:nvSpPr>
          <p:cNvPr id="5" name="Text 3"/>
          <p:cNvSpPr/>
          <p:nvPr/>
        </p:nvSpPr>
        <p:spPr>
          <a:xfrm>
            <a:off x="457200" y="1285875"/>
            <a:ext cx="6096000" cy="647700"/>
          </a:xfrm>
          <a:prstGeom prst="rect">
            <a:avLst/>
          </a:prstGeom>
          <a:noFill/>
          <a:ln/>
        </p:spPr>
        <p:txBody>
          <a:bodyPr wrap="square" lIns="0" tIns="0" rIns="0" bIns="0" rtlCol="0" anchor="t"/>
          <a:lstStyle/>
          <a:p>
            <a:pPr algn="l" indent="0" marL="0">
              <a:lnSpc>
                <a:spcPct val="140000"/>
              </a:lnSpc>
              <a:buNone/>
            </a:pPr>
            <a:r>
              <a:rPr lang="en-US" sz="1200" i="1" dirty="0">
                <a:solidFill>
                  <a:srgbClr val="3A332B"/>
                </a:solidFill>
                <a:latin typeface="Georgia" pitchFamily="34" charset="0"/>
                <a:ea typeface="Georgia" pitchFamily="34" charset="-122"/>
                <a:cs typeface="Georgia" pitchFamily="34" charset="-120"/>
              </a:rPr>
              <a:t>When the team that built a feature moves on, what they leave behind is rarely the code. It is the operational assumptions encoded around the code — every alert threshold, every runbook, every on-call expectation.</a:t>
            </a:r>
            <a:endParaRPr lang="en-US" sz="1200" dirty="0"/>
          </a:p>
        </p:txBody>
      </p:sp>
      <p:sp>
        <p:nvSpPr>
          <p:cNvPr id="6" name="Shape 4"/>
          <p:cNvSpPr/>
          <p:nvPr/>
        </p:nvSpPr>
        <p:spPr>
          <a:xfrm>
            <a:off x="457200" y="2143125"/>
            <a:ext cx="6638925" cy="9525"/>
          </a:xfrm>
          <a:prstGeom prst="rect">
            <a:avLst/>
          </a:prstGeom>
          <a:solidFill>
            <a:srgbClr val="C7B998"/>
          </a:solidFill>
          <a:ln/>
        </p:spPr>
      </p:sp>
      <p:sp>
        <p:nvSpPr>
          <p:cNvPr id="7" name="Text 5"/>
          <p:cNvSpPr/>
          <p:nvPr/>
        </p:nvSpPr>
        <p:spPr>
          <a:xfrm>
            <a:off x="457200" y="2362200"/>
            <a:ext cx="1952625" cy="419100"/>
          </a:xfrm>
          <a:prstGeom prst="rect">
            <a:avLst/>
          </a:prstGeom>
          <a:noFill/>
          <a:ln/>
        </p:spPr>
        <p:txBody>
          <a:bodyPr wrap="square" lIns="0" tIns="0" rIns="0" bIns="0" rtlCol="0" anchor="t"/>
          <a:lstStyle/>
          <a:p>
            <a:pPr algn="l" indent="0" marL="0">
              <a:lnSpc>
                <a:spcPct val="100000"/>
              </a:lnSpc>
              <a:buNone/>
            </a:pPr>
            <a:r>
              <a:rPr lang="en-US" sz="3300" b="1" dirty="0">
                <a:solidFill>
                  <a:srgbClr val="1F1B16"/>
                </a:solidFill>
                <a:latin typeface="Georgia" pitchFamily="34" charset="0"/>
                <a:ea typeface="Georgia" pitchFamily="34" charset="-122"/>
                <a:cs typeface="Georgia" pitchFamily="34" charset="-120"/>
              </a:rPr>
              <a:t>3.4×</a:t>
            </a:r>
            <a:endParaRPr lang="en-US" sz="3300" dirty="0"/>
          </a:p>
        </p:txBody>
      </p:sp>
      <p:sp>
        <p:nvSpPr>
          <p:cNvPr id="8" name="Text 6"/>
          <p:cNvSpPr/>
          <p:nvPr/>
        </p:nvSpPr>
        <p:spPr>
          <a:xfrm>
            <a:off x="457200" y="2819400"/>
            <a:ext cx="1952625" cy="114300"/>
          </a:xfrm>
          <a:prstGeom prst="rect">
            <a:avLst/>
          </a:prstGeom>
          <a:noFill/>
          <a:ln/>
        </p:spPr>
        <p:txBody>
          <a:bodyPr wrap="square" lIns="0" tIns="0" rIns="0" bIns="0" rtlCol="0" anchor="t"/>
          <a:lstStyle/>
          <a:p>
            <a:pPr algn="l" indent="0" marL="0">
              <a:lnSpc>
                <a:spcPct val="120000"/>
              </a:lnSpc>
              <a:buNone/>
            </a:pPr>
            <a:r>
              <a:rPr lang="en-US" sz="675" b="1" dirty="0">
                <a:solidFill>
                  <a:srgbClr val="6B604F"/>
                </a:solidFill>
                <a:latin typeface="Inter" pitchFamily="34" charset="0"/>
                <a:ea typeface="Inter" pitchFamily="34" charset="-122"/>
                <a:cs typeface="Inter" pitchFamily="34" charset="-120"/>
              </a:rPr>
              <a:t>OPERATIONAL DEBT</a:t>
            </a:r>
            <a:endParaRPr lang="en-US" sz="675" dirty="0"/>
          </a:p>
        </p:txBody>
      </p:sp>
      <p:sp>
        <p:nvSpPr>
          <p:cNvPr id="9" name="Text 7"/>
          <p:cNvSpPr/>
          <p:nvPr/>
        </p:nvSpPr>
        <p:spPr>
          <a:xfrm>
            <a:off x="457200" y="2952750"/>
            <a:ext cx="1952625" cy="342900"/>
          </a:xfrm>
          <a:prstGeom prst="rect">
            <a:avLst/>
          </a:prstGeom>
          <a:noFill/>
          <a:ln/>
        </p:spPr>
        <p:txBody>
          <a:bodyPr wrap="square" lIns="0" tIns="0" rIns="0" bIns="0" rtlCol="0" anchor="t"/>
          <a:lstStyle/>
          <a:p>
            <a:pPr algn="l" indent="0" marL="0">
              <a:lnSpc>
                <a:spcPct val="145000"/>
              </a:lnSpc>
              <a:buNone/>
            </a:pPr>
            <a:r>
              <a:rPr lang="en-US" sz="900" i="1" dirty="0">
                <a:solidFill>
                  <a:srgbClr val="6B604F"/>
                </a:solidFill>
                <a:latin typeface="Georgia" pitchFamily="34" charset="0"/>
                <a:ea typeface="Georgia" pitchFamily="34" charset="-122"/>
                <a:cs typeface="Georgia" pitchFamily="34" charset="-120"/>
              </a:rPr>
              <a:t>Hours of on-call work added per feature, year two over year one.</a:t>
            </a:r>
            <a:endParaRPr lang="en-US" sz="900" dirty="0"/>
          </a:p>
        </p:txBody>
      </p:sp>
      <p:sp>
        <p:nvSpPr>
          <p:cNvPr id="10" name="Shape 8"/>
          <p:cNvSpPr/>
          <p:nvPr/>
        </p:nvSpPr>
        <p:spPr>
          <a:xfrm>
            <a:off x="2600325" y="2362200"/>
            <a:ext cx="9525" cy="1095375"/>
          </a:xfrm>
          <a:prstGeom prst="rect">
            <a:avLst/>
          </a:prstGeom>
          <a:solidFill>
            <a:srgbClr val="C7B998"/>
          </a:solidFill>
          <a:ln/>
        </p:spPr>
      </p:sp>
      <p:sp>
        <p:nvSpPr>
          <p:cNvPr id="11" name="Text 9"/>
          <p:cNvSpPr/>
          <p:nvPr/>
        </p:nvSpPr>
        <p:spPr>
          <a:xfrm>
            <a:off x="2800350" y="2362200"/>
            <a:ext cx="1952625" cy="419100"/>
          </a:xfrm>
          <a:prstGeom prst="rect">
            <a:avLst/>
          </a:prstGeom>
          <a:noFill/>
          <a:ln/>
        </p:spPr>
        <p:txBody>
          <a:bodyPr wrap="square" lIns="0" tIns="0" rIns="0" bIns="0" rtlCol="0" anchor="t"/>
          <a:lstStyle/>
          <a:p>
            <a:pPr algn="l" indent="0" marL="0">
              <a:lnSpc>
                <a:spcPct val="100000"/>
              </a:lnSpc>
              <a:buNone/>
            </a:pPr>
            <a:r>
              <a:rPr lang="en-US" sz="3300" b="1" dirty="0">
                <a:solidFill>
                  <a:srgbClr val="1F1B16"/>
                </a:solidFill>
                <a:latin typeface="Georgia" pitchFamily="34" charset="0"/>
                <a:ea typeface="Georgia" pitchFamily="34" charset="-122"/>
                <a:cs typeface="Georgia" pitchFamily="34" charset="-120"/>
              </a:rPr>
              <a:t>71%</a:t>
            </a:r>
            <a:endParaRPr lang="en-US" sz="3300" dirty="0"/>
          </a:p>
        </p:txBody>
      </p:sp>
      <p:sp>
        <p:nvSpPr>
          <p:cNvPr id="12" name="Text 10"/>
          <p:cNvSpPr/>
          <p:nvPr/>
        </p:nvSpPr>
        <p:spPr>
          <a:xfrm>
            <a:off x="2800350" y="2819400"/>
            <a:ext cx="1952625" cy="114300"/>
          </a:xfrm>
          <a:prstGeom prst="rect">
            <a:avLst/>
          </a:prstGeom>
          <a:noFill/>
          <a:ln/>
        </p:spPr>
        <p:txBody>
          <a:bodyPr wrap="square" lIns="0" tIns="0" rIns="0" bIns="0" rtlCol="0" anchor="t"/>
          <a:lstStyle/>
          <a:p>
            <a:pPr algn="l" indent="0" marL="0">
              <a:lnSpc>
                <a:spcPct val="120000"/>
              </a:lnSpc>
              <a:buNone/>
            </a:pPr>
            <a:r>
              <a:rPr lang="en-US" sz="675" b="1" dirty="0">
                <a:solidFill>
                  <a:srgbClr val="6B604F"/>
                </a:solidFill>
                <a:latin typeface="Inter" pitchFamily="34" charset="0"/>
                <a:ea typeface="Inter" pitchFamily="34" charset="-122"/>
                <a:cs typeface="Inter" pitchFamily="34" charset="-120"/>
              </a:rPr>
              <a:t>RUNBOOK ROT</a:t>
            </a:r>
            <a:endParaRPr lang="en-US" sz="675" dirty="0"/>
          </a:p>
        </p:txBody>
      </p:sp>
      <p:sp>
        <p:nvSpPr>
          <p:cNvPr id="13" name="Text 11"/>
          <p:cNvSpPr/>
          <p:nvPr/>
        </p:nvSpPr>
        <p:spPr>
          <a:xfrm>
            <a:off x="2800350" y="2952750"/>
            <a:ext cx="1952625" cy="504825"/>
          </a:xfrm>
          <a:prstGeom prst="rect">
            <a:avLst/>
          </a:prstGeom>
          <a:noFill/>
          <a:ln/>
        </p:spPr>
        <p:txBody>
          <a:bodyPr wrap="square" lIns="0" tIns="0" rIns="0" bIns="0" rtlCol="0" anchor="t"/>
          <a:lstStyle/>
          <a:p>
            <a:pPr algn="l" indent="0" marL="0">
              <a:lnSpc>
                <a:spcPct val="145000"/>
              </a:lnSpc>
              <a:buNone/>
            </a:pPr>
            <a:r>
              <a:rPr lang="en-US" sz="900" i="1" dirty="0">
                <a:solidFill>
                  <a:srgbClr val="6B604F"/>
                </a:solidFill>
                <a:latin typeface="Georgia" pitchFamily="34" charset="0"/>
                <a:ea typeface="Georgia" pitchFamily="34" charset="-122"/>
                <a:cs typeface="Georgia" pitchFamily="34" charset="-120"/>
              </a:rPr>
              <a:t>Runbooks declared stale by the team that uses them, 12 months after publish.</a:t>
            </a:r>
            <a:endParaRPr lang="en-US" sz="900" dirty="0"/>
          </a:p>
        </p:txBody>
      </p:sp>
      <p:sp>
        <p:nvSpPr>
          <p:cNvPr id="14" name="Shape 12"/>
          <p:cNvSpPr/>
          <p:nvPr/>
        </p:nvSpPr>
        <p:spPr>
          <a:xfrm>
            <a:off x="4943475" y="2362200"/>
            <a:ext cx="9525" cy="1095375"/>
          </a:xfrm>
          <a:prstGeom prst="rect">
            <a:avLst/>
          </a:prstGeom>
          <a:solidFill>
            <a:srgbClr val="C7B998"/>
          </a:solidFill>
          <a:ln/>
        </p:spPr>
      </p:sp>
      <p:sp>
        <p:nvSpPr>
          <p:cNvPr id="15" name="Text 13"/>
          <p:cNvSpPr/>
          <p:nvPr/>
        </p:nvSpPr>
        <p:spPr>
          <a:xfrm>
            <a:off x="5143500" y="2362200"/>
            <a:ext cx="1952625" cy="419100"/>
          </a:xfrm>
          <a:prstGeom prst="rect">
            <a:avLst/>
          </a:prstGeom>
          <a:noFill/>
          <a:ln/>
        </p:spPr>
        <p:txBody>
          <a:bodyPr wrap="square" lIns="0" tIns="0" rIns="0" bIns="0" rtlCol="0" anchor="t"/>
          <a:lstStyle/>
          <a:p>
            <a:pPr algn="l" indent="0" marL="0">
              <a:lnSpc>
                <a:spcPct val="100000"/>
              </a:lnSpc>
              <a:buNone/>
            </a:pPr>
            <a:r>
              <a:rPr lang="en-US" sz="3300" b="1" dirty="0">
                <a:solidFill>
                  <a:srgbClr val="1F1B16"/>
                </a:solidFill>
                <a:latin typeface="Georgia" pitchFamily="34" charset="0"/>
                <a:ea typeface="Georgia" pitchFamily="34" charset="-122"/>
                <a:cs typeface="Georgia" pitchFamily="34" charset="-120"/>
              </a:rPr>
              <a:t>2.1</a:t>
            </a:r>
            <a:endParaRPr lang="en-US" sz="3300" dirty="0"/>
          </a:p>
        </p:txBody>
      </p:sp>
      <p:sp>
        <p:nvSpPr>
          <p:cNvPr id="16" name="Text 14"/>
          <p:cNvSpPr/>
          <p:nvPr/>
        </p:nvSpPr>
        <p:spPr>
          <a:xfrm>
            <a:off x="5143500" y="2819400"/>
            <a:ext cx="1952625" cy="114300"/>
          </a:xfrm>
          <a:prstGeom prst="rect">
            <a:avLst/>
          </a:prstGeom>
          <a:noFill/>
          <a:ln/>
        </p:spPr>
        <p:txBody>
          <a:bodyPr wrap="square" lIns="0" tIns="0" rIns="0" bIns="0" rtlCol="0" anchor="t"/>
          <a:lstStyle/>
          <a:p>
            <a:pPr algn="l" indent="0" marL="0">
              <a:lnSpc>
                <a:spcPct val="120000"/>
              </a:lnSpc>
              <a:buNone/>
            </a:pPr>
            <a:r>
              <a:rPr lang="en-US" sz="675" b="1" dirty="0">
                <a:solidFill>
                  <a:srgbClr val="6B604F"/>
                </a:solidFill>
                <a:latin typeface="Inter" pitchFamily="34" charset="0"/>
                <a:ea typeface="Inter" pitchFamily="34" charset="-122"/>
                <a:cs typeface="Inter" pitchFamily="34" charset="-120"/>
              </a:rPr>
              <a:t>OWNERS PER FEATURE</a:t>
            </a:r>
            <a:endParaRPr lang="en-US" sz="675" dirty="0"/>
          </a:p>
        </p:txBody>
      </p:sp>
      <p:sp>
        <p:nvSpPr>
          <p:cNvPr id="17" name="Text 15"/>
          <p:cNvSpPr/>
          <p:nvPr/>
        </p:nvSpPr>
        <p:spPr>
          <a:xfrm>
            <a:off x="5143500" y="2952750"/>
            <a:ext cx="1952625" cy="504825"/>
          </a:xfrm>
          <a:prstGeom prst="rect">
            <a:avLst/>
          </a:prstGeom>
          <a:noFill/>
          <a:ln/>
        </p:spPr>
        <p:txBody>
          <a:bodyPr wrap="square" lIns="0" tIns="0" rIns="0" bIns="0" rtlCol="0" anchor="t"/>
          <a:lstStyle/>
          <a:p>
            <a:pPr algn="l" indent="0" marL="0">
              <a:lnSpc>
                <a:spcPct val="145000"/>
              </a:lnSpc>
              <a:buNone/>
            </a:pPr>
            <a:r>
              <a:rPr lang="en-US" sz="900" i="1" dirty="0">
                <a:solidFill>
                  <a:srgbClr val="6B604F"/>
                </a:solidFill>
                <a:latin typeface="Georgia" pitchFamily="34" charset="0"/>
                <a:ea typeface="Georgia" pitchFamily="34" charset="-122"/>
                <a:cs typeface="Georgia" pitchFamily="34" charset="-120"/>
              </a:rPr>
              <a:t>Distinct teams holding portions of the feature's stack, median, year three.</a:t>
            </a:r>
            <a:endParaRPr lang="en-US" sz="900" dirty="0"/>
          </a:p>
        </p:txBody>
      </p:sp>
      <p:sp>
        <p:nvSpPr>
          <p:cNvPr id="18" name="Shape 16"/>
          <p:cNvSpPr/>
          <p:nvPr/>
        </p:nvSpPr>
        <p:spPr>
          <a:xfrm>
            <a:off x="457200" y="3609975"/>
            <a:ext cx="6638925" cy="9525"/>
          </a:xfrm>
          <a:prstGeom prst="rect">
            <a:avLst/>
          </a:prstGeom>
          <a:solidFill>
            <a:srgbClr val="C7B998"/>
          </a:solidFill>
          <a:ln/>
        </p:spPr>
      </p:sp>
      <p:sp>
        <p:nvSpPr>
          <p:cNvPr id="19" name="Text 17"/>
          <p:cNvSpPr/>
          <p:nvPr/>
        </p:nvSpPr>
        <p:spPr>
          <a:xfrm>
            <a:off x="457200" y="3771900"/>
            <a:ext cx="6638925" cy="266700"/>
          </a:xfrm>
          <a:prstGeom prst="rect">
            <a:avLst/>
          </a:prstGeom>
          <a:noFill/>
          <a:ln/>
        </p:spPr>
        <p:txBody>
          <a:bodyPr wrap="square" lIns="0" tIns="0" rIns="0" bIns="0" rtlCol="0" anchor="t"/>
          <a:lstStyle/>
          <a:p>
            <a:pPr algn="l" indent="0" marL="0">
              <a:lnSpc>
                <a:spcPct val="120000"/>
              </a:lnSpc>
              <a:buNone/>
            </a:pPr>
            <a:r>
              <a:rPr lang="en-US" sz="1650" b="1" dirty="0">
                <a:solidFill>
                  <a:srgbClr val="1F1B16"/>
                </a:solidFill>
                <a:latin typeface="Georgia" pitchFamily="34" charset="0"/>
                <a:ea typeface="Georgia" pitchFamily="34" charset="-122"/>
                <a:cs typeface="Georgia" pitchFamily="34" charset="-120"/>
              </a:rPr>
              <a:t>Where the on-call hours go.</a:t>
            </a:r>
            <a:endParaRPr lang="en-US" sz="1650" dirty="0"/>
          </a:p>
        </p:txBody>
      </p:sp>
      <p:sp>
        <p:nvSpPr>
          <p:cNvPr id="20" name="Text 18"/>
          <p:cNvSpPr/>
          <p:nvPr/>
        </p:nvSpPr>
        <p:spPr>
          <a:xfrm>
            <a:off x="457200" y="4114800"/>
            <a:ext cx="6638925" cy="171450"/>
          </a:xfrm>
          <a:prstGeom prst="rect">
            <a:avLst/>
          </a:prstGeom>
          <a:noFill/>
          <a:ln/>
        </p:spPr>
        <p:txBody>
          <a:bodyPr wrap="square" lIns="0" tIns="0" rIns="0" bIns="0" rtlCol="0" anchor="t"/>
          <a:lstStyle/>
          <a:p>
            <a:pPr algn="l" indent="0" marL="0">
              <a:lnSpc>
                <a:spcPct val="145000"/>
              </a:lnSpc>
              <a:buNone/>
            </a:pPr>
            <a:r>
              <a:rPr lang="en-US" sz="900" i="1" dirty="0">
                <a:solidFill>
                  <a:srgbClr val="6B604F"/>
                </a:solidFill>
                <a:latin typeface="Georgia" pitchFamily="34" charset="0"/>
                <a:ea typeface="Georgia" pitchFamily="34" charset="-122"/>
                <a:cs typeface="Georgia" pitchFamily="34" charset="-120"/>
              </a:rPr>
              <a:t>Self-reported on-call ledger entries, n = 412 incidents, Q4 2025.</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4371975"/>
          <a:ext cx="6638925" cy="1714500"/>
        </p:xfrm>
        <a:graphic>
          <a:graphicData uri="http://schemas.openxmlformats.org/drawingml/2006/table">
            <a:tbl>
              <a:tblPr/>
              <a:tblGrid>
                <a:gridCol w="2390013"/>
                <a:gridCol w="1460564"/>
                <a:gridCol w="1460564"/>
                <a:gridCol w="1327785"/>
              </a:tblGrid>
              <a:tr h="285750">
                <a:tc>
                  <a:txBody>
                    <a:bodyPr/>
                    <a:lstStyle/>
                    <a:p>
                      <a:pPr algn="l" indent="0" marL="0">
                        <a:buNone/>
                      </a:pPr>
                      <a:r>
                        <a:rPr lang="en-US" sz="750" b="1" dirty="0">
                          <a:solidFill>
                            <a:srgbClr val="1F1B16"/>
                          </a:solidFill>
                          <a:latin typeface="Inter" pitchFamily="34" charset="0"/>
                          <a:ea typeface="Inter" pitchFamily="34" charset="-122"/>
                          <a:cs typeface="Inter" pitchFamily="34" charset="-120"/>
                        </a:rPr>
                        <a:t>Incident class</a:t>
                      </a:r>
                      <a:endParaRPr lang="en-US" sz="750" dirty="0">
                        <a:latin typeface="Inter" charset="0"/>
                        <a:ea typeface="Inter" charset="0"/>
                        <a:cs typeface="Inter"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solidFill>
                      <a:srgbClr val="F0EADC"/>
                    </a:solidFill>
                  </a:tcPr>
                </a:tc>
                <a:tc>
                  <a:txBody>
                    <a:bodyPr/>
                    <a:lstStyle/>
                    <a:p>
                      <a:pPr algn="r" indent="0" marL="0">
                        <a:buNone/>
                      </a:pPr>
                      <a:r>
                        <a:rPr lang="en-US" sz="750" b="1" dirty="0">
                          <a:solidFill>
                            <a:srgbClr val="1F1B16"/>
                          </a:solidFill>
                          <a:latin typeface="Inter" pitchFamily="34" charset="0"/>
                          <a:ea typeface="Inter" pitchFamily="34" charset="-122"/>
                          <a:cs typeface="Inter" pitchFamily="34" charset="-120"/>
                        </a:rPr>
                        <a:t>Median hrs / event</a:t>
                      </a:r>
                      <a:endParaRPr lang="en-US" sz="750" dirty="0">
                        <a:latin typeface="Inter" charset="0"/>
                        <a:ea typeface="Inter" charset="0"/>
                        <a:cs typeface="Inter"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solidFill>
                      <a:srgbClr val="F0EADC"/>
                    </a:solidFill>
                  </a:tcPr>
                </a:tc>
                <a:tc>
                  <a:txBody>
                    <a:bodyPr/>
                    <a:lstStyle/>
                    <a:p>
                      <a:pPr algn="r" indent="0" marL="0">
                        <a:buNone/>
                      </a:pPr>
                      <a:r>
                        <a:rPr lang="en-US" sz="750" b="1" dirty="0">
                          <a:solidFill>
                            <a:srgbClr val="1F1B16"/>
                          </a:solidFill>
                          <a:latin typeface="Inter" pitchFamily="34" charset="0"/>
                          <a:ea typeface="Inter" pitchFamily="34" charset="-122"/>
                          <a:cs typeface="Inter" pitchFamily="34" charset="-120"/>
                        </a:rPr>
                        <a:t>% of all events</a:t>
                      </a:r>
                      <a:endParaRPr lang="en-US" sz="750" dirty="0">
                        <a:latin typeface="Inter" charset="0"/>
                        <a:ea typeface="Inter" charset="0"/>
                        <a:cs typeface="Inter"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solidFill>
                      <a:srgbClr val="F0EADC"/>
                    </a:solidFill>
                  </a:tcPr>
                </a:tc>
                <a:tc>
                  <a:txBody>
                    <a:bodyPr/>
                    <a:lstStyle/>
                    <a:p>
                      <a:pPr algn="r" indent="0" marL="0">
                        <a:buNone/>
                      </a:pPr>
                      <a:r>
                        <a:rPr lang="en-US" sz="750" b="1" dirty="0">
                          <a:solidFill>
                            <a:srgbClr val="1F1B16"/>
                          </a:solidFill>
                          <a:latin typeface="Inter" pitchFamily="34" charset="0"/>
                          <a:ea typeface="Inter" pitchFamily="34" charset="-122"/>
                          <a:cs typeface="Inter" pitchFamily="34" charset="-120"/>
                        </a:rPr>
                        <a:t>Avg. tenure of fix</a:t>
                      </a:r>
                      <a:endParaRPr lang="en-US" sz="750" dirty="0">
                        <a:latin typeface="Inter" charset="0"/>
                        <a:ea typeface="Inter" charset="0"/>
                        <a:cs typeface="Inter"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solidFill>
                      <a:srgbClr val="F0EADC"/>
                    </a:solidFill>
                  </a:tcPr>
                </a:tc>
              </a:tr>
              <a:tr h="285750">
                <a:tc>
                  <a:txBody>
                    <a:bodyPr/>
                    <a:lstStyle/>
                    <a:p>
                      <a:pPr algn="l" indent="0" marL="0">
                        <a:buNone/>
                      </a:pPr>
                      <a:r>
                        <a:rPr lang="en-US" sz="825" dirty="0">
                          <a:solidFill>
                            <a:srgbClr val="3A332B"/>
                          </a:solidFill>
                          <a:latin typeface="Georgia" pitchFamily="34" charset="0"/>
                          <a:ea typeface="Georgia" pitchFamily="34" charset="-122"/>
                          <a:cs typeface="Georgia" pitchFamily="34" charset="-120"/>
                        </a:rPr>
                        <a:t>Threshold drift (alert too loud / too quiet)</a:t>
                      </a:r>
                      <a:endParaRPr lang="en-US" sz="825" dirty="0">
                        <a:latin typeface="Georgia" charset="0"/>
                        <a:ea typeface="Georgia" charset="0"/>
                        <a:cs typeface="Georgia"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tcPr>
                </a:tc>
                <a:tc>
                  <a:txBody>
                    <a:bodyPr/>
                    <a:lstStyle/>
                    <a:p>
                      <a:pPr algn="r" indent="0" marL="0">
                        <a:buNone/>
                      </a:pPr>
                      <a:r>
                        <a:rPr lang="en-US" sz="825" dirty="0">
                          <a:solidFill>
                            <a:srgbClr val="3A332B"/>
                          </a:solidFill>
                          <a:latin typeface="Georgia" pitchFamily="34" charset="0"/>
                          <a:ea typeface="Georgia" pitchFamily="34" charset="-122"/>
                          <a:cs typeface="Georgia" pitchFamily="34" charset="-120"/>
                        </a:rPr>
                        <a:t>0.6</a:t>
                      </a:r>
                      <a:endParaRPr lang="en-US" sz="825" dirty="0">
                        <a:latin typeface="Georgia" charset="0"/>
                        <a:ea typeface="Georgia" charset="0"/>
                        <a:cs typeface="Georgia"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tcPr>
                </a:tc>
                <a:tc>
                  <a:txBody>
                    <a:bodyPr/>
                    <a:lstStyle/>
                    <a:p>
                      <a:pPr algn="r" indent="0" marL="0">
                        <a:buNone/>
                      </a:pPr>
                      <a:r>
                        <a:rPr lang="en-US" sz="825" dirty="0">
                          <a:solidFill>
                            <a:srgbClr val="3A332B"/>
                          </a:solidFill>
                          <a:latin typeface="Georgia" pitchFamily="34" charset="0"/>
                          <a:ea typeface="Georgia" pitchFamily="34" charset="-122"/>
                          <a:cs typeface="Georgia" pitchFamily="34" charset="-120"/>
                        </a:rPr>
                        <a:t>34%</a:t>
                      </a:r>
                      <a:endParaRPr lang="en-US" sz="825" dirty="0">
                        <a:latin typeface="Georgia" charset="0"/>
                        <a:ea typeface="Georgia" charset="0"/>
                        <a:cs typeface="Georgia"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tcPr>
                </a:tc>
                <a:tc>
                  <a:txBody>
                    <a:bodyPr/>
                    <a:lstStyle/>
                    <a:p>
                      <a:pPr algn="r" indent="0" marL="0">
                        <a:buNone/>
                      </a:pPr>
                      <a:r>
                        <a:rPr lang="en-US" sz="825" b="1" dirty="0">
                          <a:solidFill>
                            <a:srgbClr val="9A2A1F"/>
                          </a:solidFill>
                          <a:latin typeface="Georgia" pitchFamily="34" charset="0"/>
                          <a:ea typeface="Georgia" pitchFamily="34" charset="-122"/>
                          <a:cs typeface="Georgia" pitchFamily="34" charset="-120"/>
                        </a:rPr>
                        <a:t>11 days</a:t>
                      </a:r>
                      <a:endParaRPr lang="en-US" sz="825" dirty="0">
                        <a:latin typeface="Georgia" charset="0"/>
                        <a:ea typeface="Georgia" charset="0"/>
                        <a:cs typeface="Georgia"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tcPr>
                </a:tc>
              </a:tr>
              <a:tr h="285750">
                <a:tc>
                  <a:txBody>
                    <a:bodyPr/>
                    <a:lstStyle/>
                    <a:p>
                      <a:pPr algn="l" indent="0" marL="0">
                        <a:buNone/>
                      </a:pPr>
                      <a:r>
                        <a:rPr lang="en-US" sz="825" dirty="0">
                          <a:solidFill>
                            <a:srgbClr val="3A332B"/>
                          </a:solidFill>
                          <a:latin typeface="Georgia" pitchFamily="34" charset="0"/>
                          <a:ea typeface="Georgia" pitchFamily="34" charset="-122"/>
                          <a:cs typeface="Georgia" pitchFamily="34" charset="-120"/>
                        </a:rPr>
                        <a:t>Schema / API drift</a:t>
                      </a:r>
                      <a:endParaRPr lang="en-US" sz="825" dirty="0">
                        <a:latin typeface="Georgia" charset="0"/>
                        <a:ea typeface="Georgia" charset="0"/>
                        <a:cs typeface="Georgia"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tcPr>
                </a:tc>
                <a:tc>
                  <a:txBody>
                    <a:bodyPr/>
                    <a:lstStyle/>
                    <a:p>
                      <a:pPr algn="r" indent="0" marL="0">
                        <a:buNone/>
                      </a:pPr>
                      <a:r>
                        <a:rPr lang="en-US" sz="825" dirty="0">
                          <a:solidFill>
                            <a:srgbClr val="3A332B"/>
                          </a:solidFill>
                          <a:latin typeface="Georgia" pitchFamily="34" charset="0"/>
                          <a:ea typeface="Georgia" pitchFamily="34" charset="-122"/>
                          <a:cs typeface="Georgia" pitchFamily="34" charset="-120"/>
                        </a:rPr>
                        <a:t>2.4</a:t>
                      </a:r>
                      <a:endParaRPr lang="en-US" sz="825" dirty="0">
                        <a:latin typeface="Georgia" charset="0"/>
                        <a:ea typeface="Georgia" charset="0"/>
                        <a:cs typeface="Georgia"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tcPr>
                </a:tc>
                <a:tc>
                  <a:txBody>
                    <a:bodyPr/>
                    <a:lstStyle/>
                    <a:p>
                      <a:pPr algn="r" indent="0" marL="0">
                        <a:buNone/>
                      </a:pPr>
                      <a:r>
                        <a:rPr lang="en-US" sz="825" dirty="0">
                          <a:solidFill>
                            <a:srgbClr val="3A332B"/>
                          </a:solidFill>
                          <a:latin typeface="Georgia" pitchFamily="34" charset="0"/>
                          <a:ea typeface="Georgia" pitchFamily="34" charset="-122"/>
                          <a:cs typeface="Georgia" pitchFamily="34" charset="-120"/>
                        </a:rPr>
                        <a:t>22%</a:t>
                      </a:r>
                      <a:endParaRPr lang="en-US" sz="825" dirty="0">
                        <a:latin typeface="Georgia" charset="0"/>
                        <a:ea typeface="Georgia" charset="0"/>
                        <a:cs typeface="Georgia"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tcPr>
                </a:tc>
                <a:tc>
                  <a:txBody>
                    <a:bodyPr/>
                    <a:lstStyle/>
                    <a:p>
                      <a:pPr algn="r" indent="0" marL="0">
                        <a:buNone/>
                      </a:pPr>
                      <a:r>
                        <a:rPr lang="en-US" sz="825" dirty="0">
                          <a:solidFill>
                            <a:srgbClr val="3A332B"/>
                          </a:solidFill>
                          <a:latin typeface="Georgia" pitchFamily="34" charset="0"/>
                          <a:ea typeface="Georgia" pitchFamily="34" charset="-122"/>
                          <a:cs typeface="Georgia" pitchFamily="34" charset="-120"/>
                        </a:rPr>
                        <a:t>3.2 months</a:t>
                      </a:r>
                      <a:endParaRPr lang="en-US" sz="825" dirty="0">
                        <a:latin typeface="Georgia" charset="0"/>
                        <a:ea typeface="Georgia" charset="0"/>
                        <a:cs typeface="Georgia"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tcPr>
                </a:tc>
              </a:tr>
              <a:tr h="285750">
                <a:tc>
                  <a:txBody>
                    <a:bodyPr/>
                    <a:lstStyle/>
                    <a:p>
                      <a:pPr algn="l" indent="0" marL="0">
                        <a:buNone/>
                      </a:pPr>
                      <a:r>
                        <a:rPr lang="en-US" sz="825" dirty="0">
                          <a:solidFill>
                            <a:srgbClr val="3A332B"/>
                          </a:solidFill>
                          <a:latin typeface="Georgia" pitchFamily="34" charset="0"/>
                          <a:ea typeface="Georgia" pitchFamily="34" charset="-122"/>
                          <a:cs typeface="Georgia" pitchFamily="34" charset="-120"/>
                        </a:rPr>
                        <a:t>Runbook contradicts prod</a:t>
                      </a:r>
                      <a:endParaRPr lang="en-US" sz="825" dirty="0">
                        <a:latin typeface="Georgia" charset="0"/>
                        <a:ea typeface="Georgia" charset="0"/>
                        <a:cs typeface="Georgia"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tcPr>
                </a:tc>
                <a:tc>
                  <a:txBody>
                    <a:bodyPr/>
                    <a:lstStyle/>
                    <a:p>
                      <a:pPr algn="r" indent="0" marL="0">
                        <a:buNone/>
                      </a:pPr>
                      <a:r>
                        <a:rPr lang="en-US" sz="825" dirty="0">
                          <a:solidFill>
                            <a:srgbClr val="3A332B"/>
                          </a:solidFill>
                          <a:latin typeface="Georgia" pitchFamily="34" charset="0"/>
                          <a:ea typeface="Georgia" pitchFamily="34" charset="-122"/>
                          <a:cs typeface="Georgia" pitchFamily="34" charset="-120"/>
                        </a:rPr>
                        <a:t>1.1</a:t>
                      </a:r>
                      <a:endParaRPr lang="en-US" sz="825" dirty="0">
                        <a:latin typeface="Georgia" charset="0"/>
                        <a:ea typeface="Georgia" charset="0"/>
                        <a:cs typeface="Georgia"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tcPr>
                </a:tc>
                <a:tc>
                  <a:txBody>
                    <a:bodyPr/>
                    <a:lstStyle/>
                    <a:p>
                      <a:pPr algn="r" indent="0" marL="0">
                        <a:buNone/>
                      </a:pPr>
                      <a:r>
                        <a:rPr lang="en-US" sz="825" dirty="0">
                          <a:solidFill>
                            <a:srgbClr val="3A332B"/>
                          </a:solidFill>
                          <a:latin typeface="Georgia" pitchFamily="34" charset="0"/>
                          <a:ea typeface="Georgia" pitchFamily="34" charset="-122"/>
                          <a:cs typeface="Georgia" pitchFamily="34" charset="-120"/>
                        </a:rPr>
                        <a:t>18%</a:t>
                      </a:r>
                      <a:endParaRPr lang="en-US" sz="825" dirty="0">
                        <a:latin typeface="Georgia" charset="0"/>
                        <a:ea typeface="Georgia" charset="0"/>
                        <a:cs typeface="Georgia"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tcPr>
                </a:tc>
                <a:tc>
                  <a:txBody>
                    <a:bodyPr/>
                    <a:lstStyle/>
                    <a:p>
                      <a:pPr algn="r" indent="0" marL="0">
                        <a:buNone/>
                      </a:pPr>
                      <a:r>
                        <a:rPr lang="en-US" sz="825" dirty="0">
                          <a:solidFill>
                            <a:srgbClr val="3A332B"/>
                          </a:solidFill>
                          <a:latin typeface="Georgia" pitchFamily="34" charset="0"/>
                          <a:ea typeface="Georgia" pitchFamily="34" charset="-122"/>
                          <a:cs typeface="Georgia" pitchFamily="34" charset="-120"/>
                        </a:rPr>
                        <a:t>6 weeks</a:t>
                      </a:r>
                      <a:endParaRPr lang="en-US" sz="825" dirty="0">
                        <a:latin typeface="Georgia" charset="0"/>
                        <a:ea typeface="Georgia" charset="0"/>
                        <a:cs typeface="Georgia"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tcPr>
                </a:tc>
              </a:tr>
              <a:tr h="285750">
                <a:tc>
                  <a:txBody>
                    <a:bodyPr/>
                    <a:lstStyle/>
                    <a:p>
                      <a:pPr algn="l" indent="0" marL="0">
                        <a:buNone/>
                      </a:pPr>
                      <a:r>
                        <a:rPr lang="en-US" sz="825" dirty="0">
                          <a:solidFill>
                            <a:srgbClr val="3A332B"/>
                          </a:solidFill>
                          <a:latin typeface="Georgia" pitchFamily="34" charset="0"/>
                          <a:ea typeface="Georgia" pitchFamily="34" charset="-122"/>
                          <a:cs typeface="Georgia" pitchFamily="34" charset="-120"/>
                        </a:rPr>
                        <a:t>Forgotten dependency</a:t>
                      </a:r>
                      <a:endParaRPr lang="en-US" sz="825" dirty="0">
                        <a:latin typeface="Georgia" charset="0"/>
                        <a:ea typeface="Georgia" charset="0"/>
                        <a:cs typeface="Georgia"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tcPr>
                </a:tc>
                <a:tc>
                  <a:txBody>
                    <a:bodyPr/>
                    <a:lstStyle/>
                    <a:p>
                      <a:pPr algn="r" indent="0" marL="0">
                        <a:buNone/>
                      </a:pPr>
                      <a:r>
                        <a:rPr lang="en-US" sz="825" dirty="0">
                          <a:solidFill>
                            <a:srgbClr val="3A332B"/>
                          </a:solidFill>
                          <a:latin typeface="Georgia" pitchFamily="34" charset="0"/>
                          <a:ea typeface="Georgia" pitchFamily="34" charset="-122"/>
                          <a:cs typeface="Georgia" pitchFamily="34" charset="-120"/>
                        </a:rPr>
                        <a:t>3.8</a:t>
                      </a:r>
                      <a:endParaRPr lang="en-US" sz="825" dirty="0">
                        <a:latin typeface="Georgia" charset="0"/>
                        <a:ea typeface="Georgia" charset="0"/>
                        <a:cs typeface="Georgia"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tcPr>
                </a:tc>
                <a:tc>
                  <a:txBody>
                    <a:bodyPr/>
                    <a:lstStyle/>
                    <a:p>
                      <a:pPr algn="r" indent="0" marL="0">
                        <a:buNone/>
                      </a:pPr>
                      <a:r>
                        <a:rPr lang="en-US" sz="825" dirty="0">
                          <a:solidFill>
                            <a:srgbClr val="3A332B"/>
                          </a:solidFill>
                          <a:latin typeface="Georgia" pitchFamily="34" charset="0"/>
                          <a:ea typeface="Georgia" pitchFamily="34" charset="-122"/>
                          <a:cs typeface="Georgia" pitchFamily="34" charset="-120"/>
                        </a:rPr>
                        <a:t>14%</a:t>
                      </a:r>
                      <a:endParaRPr lang="en-US" sz="825" dirty="0">
                        <a:latin typeface="Georgia" charset="0"/>
                        <a:ea typeface="Georgia" charset="0"/>
                        <a:cs typeface="Georgia"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tcPr>
                </a:tc>
                <a:tc>
                  <a:txBody>
                    <a:bodyPr/>
                    <a:lstStyle/>
                    <a:p>
                      <a:pPr algn="r" indent="0" marL="0">
                        <a:buNone/>
                      </a:pPr>
                      <a:r>
                        <a:rPr lang="en-US" sz="825" b="1" dirty="0">
                          <a:solidFill>
                            <a:srgbClr val="9A2A1F"/>
                          </a:solidFill>
                          <a:latin typeface="Georgia" pitchFamily="34" charset="0"/>
                          <a:ea typeface="Georgia" pitchFamily="34" charset="-122"/>
                          <a:cs typeface="Georgia" pitchFamily="34" charset="-120"/>
                        </a:rPr>
                        <a:t>permanent</a:t>
                      </a:r>
                      <a:endParaRPr lang="en-US" sz="825" dirty="0">
                        <a:latin typeface="Georgia" charset="0"/>
                        <a:ea typeface="Georgia" charset="0"/>
                        <a:cs typeface="Georgia"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tcPr>
                </a:tc>
              </a:tr>
              <a:tr h="285750">
                <a:tc>
                  <a:txBody>
                    <a:bodyPr/>
                    <a:lstStyle/>
                    <a:p>
                      <a:pPr algn="l" indent="0" marL="0">
                        <a:buNone/>
                      </a:pPr>
                      <a:r>
                        <a:rPr lang="en-US" sz="825" dirty="0">
                          <a:solidFill>
                            <a:srgbClr val="3A332B"/>
                          </a:solidFill>
                          <a:latin typeface="Georgia" pitchFamily="34" charset="0"/>
                          <a:ea typeface="Georgia" pitchFamily="34" charset="-122"/>
                          <a:cs typeface="Georgia" pitchFamily="34" charset="-120"/>
                        </a:rPr>
                        <a:t>True novel incident</a:t>
                      </a:r>
                      <a:endParaRPr lang="en-US" sz="825" dirty="0">
                        <a:latin typeface="Georgia" charset="0"/>
                        <a:ea typeface="Georgia" charset="0"/>
                        <a:cs typeface="Georgia"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tcPr>
                </a:tc>
                <a:tc>
                  <a:txBody>
                    <a:bodyPr/>
                    <a:lstStyle/>
                    <a:p>
                      <a:pPr algn="r" indent="0" marL="0">
                        <a:buNone/>
                      </a:pPr>
                      <a:r>
                        <a:rPr lang="en-US" sz="825" dirty="0">
                          <a:solidFill>
                            <a:srgbClr val="3A332B"/>
                          </a:solidFill>
                          <a:latin typeface="Georgia" pitchFamily="34" charset="0"/>
                          <a:ea typeface="Georgia" pitchFamily="34" charset="-122"/>
                          <a:cs typeface="Georgia" pitchFamily="34" charset="-120"/>
                        </a:rPr>
                        <a:t>4.6</a:t>
                      </a:r>
                      <a:endParaRPr lang="en-US" sz="825" dirty="0">
                        <a:latin typeface="Georgia" charset="0"/>
                        <a:ea typeface="Georgia" charset="0"/>
                        <a:cs typeface="Georgia"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tcPr>
                </a:tc>
                <a:tc>
                  <a:txBody>
                    <a:bodyPr/>
                    <a:lstStyle/>
                    <a:p>
                      <a:pPr algn="r" indent="0" marL="0">
                        <a:buNone/>
                      </a:pPr>
                      <a:r>
                        <a:rPr lang="en-US" sz="825" dirty="0">
                          <a:solidFill>
                            <a:srgbClr val="3A332B"/>
                          </a:solidFill>
                          <a:latin typeface="Georgia" pitchFamily="34" charset="0"/>
                          <a:ea typeface="Georgia" pitchFamily="34" charset="-122"/>
                          <a:cs typeface="Georgia" pitchFamily="34" charset="-120"/>
                        </a:rPr>
                        <a:t>12%</a:t>
                      </a:r>
                      <a:endParaRPr lang="en-US" sz="825" dirty="0">
                        <a:latin typeface="Georgia" charset="0"/>
                        <a:ea typeface="Georgia" charset="0"/>
                        <a:cs typeface="Georgia"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tcPr>
                </a:tc>
                <a:tc>
                  <a:txBody>
                    <a:bodyPr/>
                    <a:lstStyle/>
                    <a:p>
                      <a:pPr algn="r" indent="0" marL="0">
                        <a:buNone/>
                      </a:pPr>
                      <a:r>
                        <a:rPr lang="en-US" sz="825" dirty="0">
                          <a:solidFill>
                            <a:srgbClr val="3A332B"/>
                          </a:solidFill>
                          <a:latin typeface="Georgia" pitchFamily="34" charset="0"/>
                          <a:ea typeface="Georgia" pitchFamily="34" charset="-122"/>
                          <a:cs typeface="Georgia" pitchFamily="34" charset="-120"/>
                        </a:rPr>
                        <a:t>—</a:t>
                      </a:r>
                      <a:endParaRPr lang="en-US" sz="825" dirty="0">
                        <a:latin typeface="Georgia" charset="0"/>
                        <a:ea typeface="Georgia" charset="0"/>
                        <a:cs typeface="Georgia" charset="0"/>
                      </a:endParaRPr>
                    </a:p>
                  </a:txBody>
                  <a:tcPr marL="76200" marR="76200" marT="76200" marB="76200" anchor="ctr">
                    <a:lnL w="4763" cap="flat" cmpd="sng" algn="ctr">
                      <a:solidFill>
                        <a:srgbClr val="C7B998"/>
                      </a:solidFill>
                      <a:prstDash val="solid"/>
                      <a:round/>
                      <a:headEnd type="none" w="med" len="med"/>
                      <a:tailEnd type="none" w="med" len="med"/>
                    </a:lnL>
                    <a:lnR w="4763" cap="flat" cmpd="sng" algn="ctr">
                      <a:solidFill>
                        <a:srgbClr val="C7B998"/>
                      </a:solidFill>
                      <a:prstDash val="solid"/>
                      <a:round/>
                      <a:headEnd type="none" w="med" len="med"/>
                      <a:tailEnd type="none" w="med" len="med"/>
                    </a:lnR>
                    <a:lnT w="4763" cap="flat" cmpd="sng" algn="ctr">
                      <a:solidFill>
                        <a:srgbClr val="C7B998"/>
                      </a:solidFill>
                      <a:prstDash val="solid"/>
                      <a:round/>
                      <a:headEnd type="none" w="med" len="med"/>
                      <a:tailEnd type="none" w="med" len="med"/>
                    </a:lnT>
                    <a:lnB w="4763" cap="flat" cmpd="sng" algn="ctr">
                      <a:solidFill>
                        <a:srgbClr val="C7B998"/>
                      </a:solidFill>
                      <a:prstDash val="solid"/>
                      <a:round/>
                      <a:headEnd type="none" w="med" len="med"/>
                      <a:tailEnd type="none" w="med" len="med"/>
                    </a:lnB>
                  </a:tcPr>
                </a:tc>
              </a:tr>
            </a:tbl>
          </a:graphicData>
        </a:graphic>
      </p:graphicFrame>
      <p:sp>
        <p:nvSpPr>
          <p:cNvPr id="22" name="Text 19"/>
          <p:cNvSpPr/>
          <p:nvPr/>
        </p:nvSpPr>
        <p:spPr>
          <a:xfrm>
            <a:off x="457200" y="6362700"/>
            <a:ext cx="6638925" cy="123825"/>
          </a:xfrm>
          <a:prstGeom prst="rect">
            <a:avLst/>
          </a:prstGeom>
          <a:noFill/>
          <a:ln/>
        </p:spPr>
        <p:txBody>
          <a:bodyPr wrap="square" lIns="0" tIns="0" rIns="0" bIns="0" rtlCol="0" anchor="t"/>
          <a:lstStyle/>
          <a:p>
            <a:pPr algn="l" indent="0" marL="0">
              <a:lnSpc>
                <a:spcPct val="130000"/>
              </a:lnSpc>
              <a:buNone/>
            </a:pPr>
            <a:r>
              <a:rPr lang="en-US" sz="675" i="1" dirty="0">
                <a:solidFill>
                  <a:srgbClr val="6B604F"/>
                </a:solidFill>
                <a:latin typeface="Inter" pitchFamily="34" charset="0"/>
                <a:ea typeface="Inter" pitchFamily="34" charset="-122"/>
                <a:cs typeface="Inter" pitchFamily="34" charset="-120"/>
              </a:rPr>
              <a:t>2.</a:t>
            </a:r>
            <a:pPr algn="l" indent="0" marL="0">
              <a:lnSpc>
                <a:spcPct val="130000"/>
              </a:lnSpc>
              <a:buNone/>
            </a:pPr>
            <a:r>
              <a:rPr lang="en-US" sz="675" i="1" dirty="0">
                <a:solidFill>
                  <a:srgbClr val="6B604F"/>
                </a:solidFill>
                <a:latin typeface="Inter" pitchFamily="34" charset="0"/>
                <a:ea typeface="Inter" pitchFamily="34" charset="-122"/>
                <a:cs typeface="Inter" pitchFamily="34" charset="-120"/>
              </a:rPr>
              <a:t> 'Permanent' indicates the team's reported tenure exceeds the survey window of 36 months — i.e., the fix has not yet been replaced.</a:t>
            </a:r>
            <a:endParaRPr lang="en-US" sz="675" dirty="0"/>
          </a:p>
        </p:txBody>
      </p:sp>
      <p:sp>
        <p:nvSpPr>
          <p:cNvPr id="23" name="Text 20"/>
          <p:cNvSpPr/>
          <p:nvPr/>
        </p:nvSpPr>
        <p:spPr>
          <a:xfrm>
            <a:off x="457200" y="6543675"/>
            <a:ext cx="6638925" cy="114300"/>
          </a:xfrm>
          <a:prstGeom prst="rect">
            <a:avLst/>
          </a:prstGeom>
          <a:noFill/>
          <a:ln/>
        </p:spPr>
        <p:txBody>
          <a:bodyPr wrap="square" lIns="0" tIns="0" rIns="0" bIns="0" rtlCol="0" anchor="t"/>
          <a:lstStyle/>
          <a:p>
            <a:pPr algn="l" indent="0" marL="0">
              <a:lnSpc>
                <a:spcPct val="130000"/>
              </a:lnSpc>
              <a:buNone/>
            </a:pPr>
            <a:r>
              <a:rPr lang="en-US" sz="675" i="1" dirty="0">
                <a:solidFill>
                  <a:srgbClr val="6B604F"/>
                </a:solidFill>
                <a:latin typeface="Inter" pitchFamily="34" charset="0"/>
                <a:ea typeface="Inter" pitchFamily="34" charset="-122"/>
                <a:cs typeface="Inter" pitchFamily="34" charset="-120"/>
              </a:rPr>
              <a:t>3.</a:t>
            </a:r>
            <a:pPr algn="l" indent="0" marL="0">
              <a:lnSpc>
                <a:spcPct val="130000"/>
              </a:lnSpc>
              <a:buNone/>
            </a:pPr>
            <a:r>
              <a:rPr lang="en-US" sz="675" i="1" dirty="0">
                <a:solidFill>
                  <a:srgbClr val="6B604F"/>
                </a:solidFill>
                <a:latin typeface="Inter" pitchFamily="34" charset="0"/>
                <a:ea typeface="Inter" pitchFamily="34" charset="-122"/>
                <a:cs typeface="Inter" pitchFamily="34" charset="-120"/>
              </a:rPr>
              <a:t> The 'forgotten dependency' class is the most expensive: median 3.8 hours per event, and a hard-to-quantify cost of context-recovery for the on-call engineer.</a:t>
            </a:r>
            <a:endParaRPr lang="en-US" sz="675" dirty="0"/>
          </a:p>
        </p:txBody>
      </p:sp>
      <p:sp>
        <p:nvSpPr>
          <p:cNvPr id="25" name="Slide Number Placeholder 0"/>
          <p:cNvSpPr>
            <a:spLocks noGrp="1"/>
          </p:cNvSpPr>
          <p:nvPr>
            <p:ph type="sldNum" sz="quarter" idx="4294967295"/>
          </p:nvPr>
        </p:nvSpPr>
        <p:spPr>
          <a:xfrm>
            <a:off x="6667500" y="10248900"/>
            <a:ext cx="419100" cy="171450"/>
          </a:xfrm>
          <a:prstGeom prst="rect">
            <a:avLst/>
          </a:prstGeom>
          <a:extLst>
            <a:ext uri="{C572A759-6A51-4108-AA02-DFA0A04FC94B}">
              <ma14:wrappingTextBoxFlag xmlns:ma14="http://schemas.microsoft.com/office/mac/drawingml/2011/main" val="0"/>
            </a:ext>
          </a:extLst>
        </p:spPr>
        <p:txBody>
          <a:bodyPr/>
          <a:lstStyle>
            <a:lvl1pPr>
              <a:defRPr sz="825">
                <a:solidFill>
                  <a:srgbClr val="1F1B16"/>
                </a:solidFill>
                <a:latin typeface="Inter"/>
                <a:ea typeface="Inter"/>
                <a:cs typeface="Inter"/>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800100"/>
            <a:ext cx="133350" cy="19050"/>
          </a:xfrm>
          <a:prstGeom prst="rect">
            <a:avLst/>
          </a:prstGeom>
          <a:solidFill>
            <a:srgbClr val="9A2A1F"/>
          </a:solidFill>
          <a:ln/>
        </p:spPr>
      </p:sp>
      <p:sp>
        <p:nvSpPr>
          <p:cNvPr id="3" name="Text 1"/>
          <p:cNvSpPr/>
          <p:nvPr/>
        </p:nvSpPr>
        <p:spPr>
          <a:xfrm>
            <a:off x="666750" y="762000"/>
            <a:ext cx="6429375" cy="85725"/>
          </a:xfrm>
          <a:prstGeom prst="rect">
            <a:avLst/>
          </a:prstGeom>
          <a:noFill/>
          <a:ln/>
        </p:spPr>
        <p:txBody>
          <a:bodyPr wrap="square" lIns="0" tIns="0" rIns="0" bIns="0" rtlCol="0" anchor="t"/>
          <a:lstStyle/>
          <a:p>
            <a:pPr algn="l" indent="0" marL="0">
              <a:lnSpc>
                <a:spcPct val="100000"/>
              </a:lnSpc>
              <a:buNone/>
            </a:pPr>
            <a:r>
              <a:rPr lang="en-US" sz="675" b="1" dirty="0">
                <a:solidFill>
                  <a:srgbClr val="9A2A1F"/>
                </a:solidFill>
                <a:latin typeface="Inter" pitchFamily="34" charset="0"/>
                <a:ea typeface="Inter" pitchFamily="34" charset="-122"/>
                <a:cs typeface="Inter" pitchFamily="34" charset="-120"/>
              </a:rPr>
              <a:t>COLOPHON · ISSUE 14</a:t>
            </a:r>
            <a:endParaRPr lang="en-US" sz="675" dirty="0"/>
          </a:p>
        </p:txBody>
      </p:sp>
      <p:sp>
        <p:nvSpPr>
          <p:cNvPr id="4" name="Text 2"/>
          <p:cNvSpPr/>
          <p:nvPr/>
        </p:nvSpPr>
        <p:spPr>
          <a:xfrm>
            <a:off x="457200" y="904875"/>
            <a:ext cx="6638925" cy="333375"/>
          </a:xfrm>
          <a:prstGeom prst="rect">
            <a:avLst/>
          </a:prstGeom>
          <a:noFill/>
          <a:ln/>
        </p:spPr>
        <p:txBody>
          <a:bodyPr wrap="square" lIns="0" tIns="0" rIns="0" bIns="0" rtlCol="0" anchor="t"/>
          <a:lstStyle/>
          <a:p>
            <a:pPr algn="l" indent="0" marL="0">
              <a:lnSpc>
                <a:spcPct val="115000"/>
              </a:lnSpc>
              <a:buNone/>
            </a:pPr>
            <a:r>
              <a:rPr lang="en-US" sz="2250" dirty="0">
                <a:solidFill>
                  <a:srgbClr val="1F1B16"/>
                </a:solidFill>
                <a:latin typeface="Georgia" pitchFamily="34" charset="0"/>
                <a:ea typeface="Georgia" pitchFamily="34" charset="-122"/>
                <a:cs typeface="Georgia" pitchFamily="34" charset="-120"/>
              </a:rPr>
              <a:t>On production, on people, on the next number.</a:t>
            </a:r>
            <a:endParaRPr lang="en-US" sz="2250" dirty="0"/>
          </a:p>
        </p:txBody>
      </p:sp>
      <p:sp>
        <p:nvSpPr>
          <p:cNvPr id="5" name="Text 3"/>
          <p:cNvSpPr/>
          <p:nvPr/>
        </p:nvSpPr>
        <p:spPr>
          <a:xfrm>
            <a:off x="457200" y="1285875"/>
            <a:ext cx="6096000" cy="647700"/>
          </a:xfrm>
          <a:prstGeom prst="rect">
            <a:avLst/>
          </a:prstGeom>
          <a:noFill/>
          <a:ln/>
        </p:spPr>
        <p:txBody>
          <a:bodyPr wrap="square" lIns="0" tIns="0" rIns="0" bIns="0" rtlCol="0" anchor="t"/>
          <a:lstStyle/>
          <a:p>
            <a:pPr algn="l" indent="0" marL="0">
              <a:lnSpc>
                <a:spcPct val="140000"/>
              </a:lnSpc>
              <a:buNone/>
            </a:pPr>
            <a:r>
              <a:rPr lang="en-US" sz="1200" i="1" dirty="0">
                <a:solidFill>
                  <a:srgbClr val="3A332B"/>
                </a:solidFill>
                <a:latin typeface="Georgia" pitchFamily="34" charset="0"/>
                <a:ea typeface="Georgia" pitchFamily="34" charset="-122"/>
                <a:cs typeface="Georgia" pitchFamily="34" charset="-120"/>
              </a:rPr>
              <a:t>Quarterly is set in Georgia (display) and Inter (meta) — a deliberately old-fashioned pairing. Paper grain on the cover is mid-process; the layout is set by hand. Errata, contributors, and the next call for letters follow.</a:t>
            </a:r>
            <a:endParaRPr lang="en-US" sz="1200" dirty="0"/>
          </a:p>
        </p:txBody>
      </p:sp>
      <p:sp>
        <p:nvSpPr>
          <p:cNvPr id="6" name="Shape 4"/>
          <p:cNvSpPr/>
          <p:nvPr/>
        </p:nvSpPr>
        <p:spPr>
          <a:xfrm>
            <a:off x="457200" y="2143125"/>
            <a:ext cx="6638925" cy="9525"/>
          </a:xfrm>
          <a:prstGeom prst="rect">
            <a:avLst/>
          </a:prstGeom>
          <a:solidFill>
            <a:srgbClr val="C7B998"/>
          </a:solidFill>
          <a:ln/>
        </p:spPr>
      </p:sp>
      <p:sp>
        <p:nvSpPr>
          <p:cNvPr id="7" name="Text 5"/>
          <p:cNvSpPr/>
          <p:nvPr/>
        </p:nvSpPr>
        <p:spPr>
          <a:xfrm>
            <a:off x="457200" y="2362200"/>
            <a:ext cx="3324225" cy="266700"/>
          </a:xfrm>
          <a:prstGeom prst="rect">
            <a:avLst/>
          </a:prstGeom>
          <a:noFill/>
          <a:ln/>
        </p:spPr>
        <p:txBody>
          <a:bodyPr wrap="square" lIns="0" tIns="0" rIns="0" bIns="0" rtlCol="0" anchor="t"/>
          <a:lstStyle/>
          <a:p>
            <a:pPr algn="l" indent="0" marL="0">
              <a:lnSpc>
                <a:spcPct val="120000"/>
              </a:lnSpc>
              <a:buNone/>
            </a:pPr>
            <a:r>
              <a:rPr lang="en-US" sz="1650" b="1" dirty="0">
                <a:solidFill>
                  <a:srgbClr val="1F1B16"/>
                </a:solidFill>
                <a:latin typeface="Georgia" pitchFamily="34" charset="0"/>
                <a:ea typeface="Georgia" pitchFamily="34" charset="-122"/>
                <a:cs typeface="Georgia" pitchFamily="34" charset="-120"/>
              </a:rPr>
              <a:t>Contributors</a:t>
            </a:r>
            <a:endParaRPr lang="en-US" sz="1650" dirty="0"/>
          </a:p>
        </p:txBody>
      </p:sp>
      <p:sp>
        <p:nvSpPr>
          <p:cNvPr id="8" name="Text 6"/>
          <p:cNvSpPr/>
          <p:nvPr/>
        </p:nvSpPr>
        <p:spPr>
          <a:xfrm>
            <a:off x="457200" y="2743200"/>
            <a:ext cx="1619250" cy="123825"/>
          </a:xfrm>
          <a:prstGeom prst="rect">
            <a:avLst/>
          </a:prstGeom>
          <a:noFill/>
          <a:ln/>
        </p:spPr>
        <p:txBody>
          <a:bodyPr wrap="square" lIns="0" tIns="0" rIns="0" bIns="0" rtlCol="0" anchor="ctr"/>
          <a:lstStyle/>
          <a:p>
            <a:pPr algn="l" indent="0" marL="0">
              <a:lnSpc>
                <a:spcPct val="100000"/>
              </a:lnSpc>
              <a:buNone/>
            </a:pPr>
            <a:r>
              <a:rPr lang="en-US" sz="975" b="1" dirty="0">
                <a:solidFill>
                  <a:srgbClr val="1F1B16"/>
                </a:solidFill>
                <a:latin typeface="Georgia" pitchFamily="34" charset="0"/>
                <a:ea typeface="Georgia" pitchFamily="34" charset="-122"/>
                <a:cs typeface="Georgia" pitchFamily="34" charset="-120"/>
              </a:rPr>
              <a:t>Mara Olsen</a:t>
            </a:r>
            <a:endParaRPr lang="en-US" sz="975" dirty="0"/>
          </a:p>
        </p:txBody>
      </p:sp>
      <p:sp>
        <p:nvSpPr>
          <p:cNvPr id="9" name="Text 7"/>
          <p:cNvSpPr/>
          <p:nvPr/>
        </p:nvSpPr>
        <p:spPr>
          <a:xfrm>
            <a:off x="2162175" y="2743200"/>
            <a:ext cx="1619250" cy="123825"/>
          </a:xfrm>
          <a:prstGeom prst="rect">
            <a:avLst/>
          </a:prstGeom>
          <a:noFill/>
          <a:ln/>
        </p:spPr>
        <p:txBody>
          <a:bodyPr wrap="square" lIns="0" tIns="0" rIns="0" bIns="0" rtlCol="0" anchor="ctr"/>
          <a:lstStyle/>
          <a:p>
            <a:pPr algn="l" indent="0" marL="0">
              <a:lnSpc>
                <a:spcPct val="100000"/>
              </a:lnSpc>
              <a:buNone/>
            </a:pPr>
            <a:r>
              <a:rPr lang="en-US" sz="675" b="1" dirty="0">
                <a:solidFill>
                  <a:srgbClr val="6B604F"/>
                </a:solidFill>
                <a:latin typeface="Inter" pitchFamily="34" charset="0"/>
                <a:ea typeface="Inter" pitchFamily="34" charset="-122"/>
                <a:cs typeface="Inter" pitchFamily="34" charset="-120"/>
              </a:rPr>
              <a:t>Lead writer</a:t>
            </a:r>
            <a:endParaRPr lang="en-US" sz="675" dirty="0"/>
          </a:p>
        </p:txBody>
      </p:sp>
      <p:sp>
        <p:nvSpPr>
          <p:cNvPr id="10" name="Text 8"/>
          <p:cNvSpPr/>
          <p:nvPr/>
        </p:nvSpPr>
        <p:spPr>
          <a:xfrm>
            <a:off x="457200" y="2886075"/>
            <a:ext cx="3324225" cy="171450"/>
          </a:xfrm>
          <a:prstGeom prst="rect">
            <a:avLst/>
          </a:prstGeom>
          <a:noFill/>
          <a:ln/>
        </p:spPr>
        <p:txBody>
          <a:bodyPr wrap="square" lIns="0" tIns="0" rIns="0" bIns="0" rtlCol="0" anchor="t"/>
          <a:lstStyle/>
          <a:p>
            <a:pPr algn="l" indent="0" marL="0">
              <a:lnSpc>
                <a:spcPct val="145000"/>
              </a:lnSpc>
              <a:buNone/>
            </a:pPr>
            <a:r>
              <a:rPr lang="en-US" sz="900" i="1" dirty="0">
                <a:solidFill>
                  <a:srgbClr val="6B604F"/>
                </a:solidFill>
                <a:latin typeface="Georgia" pitchFamily="34" charset="0"/>
                <a:ea typeface="Georgia" pitchFamily="34" charset="-122"/>
                <a:cs typeface="Georgia" pitchFamily="34" charset="-120"/>
              </a:rPr>
              <a:t>Reports for Quarterly since 2024.</a:t>
            </a:r>
            <a:endParaRPr lang="en-US" sz="900" dirty="0"/>
          </a:p>
        </p:txBody>
      </p:sp>
      <p:sp>
        <p:nvSpPr>
          <p:cNvPr id="11" name="Text 9"/>
          <p:cNvSpPr/>
          <p:nvPr/>
        </p:nvSpPr>
        <p:spPr>
          <a:xfrm>
            <a:off x="457200" y="3143250"/>
            <a:ext cx="1619250" cy="123825"/>
          </a:xfrm>
          <a:prstGeom prst="rect">
            <a:avLst/>
          </a:prstGeom>
          <a:noFill/>
          <a:ln/>
        </p:spPr>
        <p:txBody>
          <a:bodyPr wrap="square" lIns="0" tIns="0" rIns="0" bIns="0" rtlCol="0" anchor="ctr"/>
          <a:lstStyle/>
          <a:p>
            <a:pPr algn="l" indent="0" marL="0">
              <a:lnSpc>
                <a:spcPct val="100000"/>
              </a:lnSpc>
              <a:buNone/>
            </a:pPr>
            <a:r>
              <a:rPr lang="en-US" sz="975" b="1" dirty="0">
                <a:solidFill>
                  <a:srgbClr val="1F1B16"/>
                </a:solidFill>
                <a:latin typeface="Georgia" pitchFamily="34" charset="0"/>
                <a:ea typeface="Georgia" pitchFamily="34" charset="-122"/>
                <a:cs typeface="Georgia" pitchFamily="34" charset="-120"/>
              </a:rPr>
              <a:t>Devon Park</a:t>
            </a:r>
            <a:endParaRPr lang="en-US" sz="975" dirty="0"/>
          </a:p>
        </p:txBody>
      </p:sp>
      <p:sp>
        <p:nvSpPr>
          <p:cNvPr id="12" name="Text 10"/>
          <p:cNvSpPr/>
          <p:nvPr/>
        </p:nvSpPr>
        <p:spPr>
          <a:xfrm>
            <a:off x="2162175" y="3143250"/>
            <a:ext cx="1619250" cy="123825"/>
          </a:xfrm>
          <a:prstGeom prst="rect">
            <a:avLst/>
          </a:prstGeom>
          <a:noFill/>
          <a:ln/>
        </p:spPr>
        <p:txBody>
          <a:bodyPr wrap="square" lIns="0" tIns="0" rIns="0" bIns="0" rtlCol="0" anchor="ctr"/>
          <a:lstStyle/>
          <a:p>
            <a:pPr algn="l" indent="0" marL="0">
              <a:lnSpc>
                <a:spcPct val="100000"/>
              </a:lnSpc>
              <a:buNone/>
            </a:pPr>
            <a:r>
              <a:rPr lang="en-US" sz="675" b="1" dirty="0">
                <a:solidFill>
                  <a:srgbClr val="6B604F"/>
                </a:solidFill>
                <a:latin typeface="Inter" pitchFamily="34" charset="0"/>
                <a:ea typeface="Inter" pitchFamily="34" charset="-122"/>
                <a:cs typeface="Inter" pitchFamily="34" charset="-120"/>
              </a:rPr>
              <a:t>Data + figures</a:t>
            </a:r>
            <a:endParaRPr lang="en-US" sz="675" dirty="0"/>
          </a:p>
        </p:txBody>
      </p:sp>
      <p:sp>
        <p:nvSpPr>
          <p:cNvPr id="13" name="Text 11"/>
          <p:cNvSpPr/>
          <p:nvPr/>
        </p:nvSpPr>
        <p:spPr>
          <a:xfrm>
            <a:off x="457200" y="3286125"/>
            <a:ext cx="3324225" cy="171450"/>
          </a:xfrm>
          <a:prstGeom prst="rect">
            <a:avLst/>
          </a:prstGeom>
          <a:noFill/>
          <a:ln/>
        </p:spPr>
        <p:txBody>
          <a:bodyPr wrap="square" lIns="0" tIns="0" rIns="0" bIns="0" rtlCol="0" anchor="t"/>
          <a:lstStyle/>
          <a:p>
            <a:pPr algn="l" indent="0" marL="0">
              <a:lnSpc>
                <a:spcPct val="145000"/>
              </a:lnSpc>
              <a:buNone/>
            </a:pPr>
            <a:r>
              <a:rPr lang="en-US" sz="900" i="1" dirty="0">
                <a:solidFill>
                  <a:srgbClr val="6B604F"/>
                </a:solidFill>
                <a:latin typeface="Georgia" pitchFamily="34" charset="0"/>
                <a:ea typeface="Georgia" pitchFamily="34" charset="-122"/>
                <a:cs typeface="Georgia" pitchFamily="34" charset="-120"/>
              </a:rPr>
              <a:t>Built the incident-ledger survey.</a:t>
            </a:r>
            <a:endParaRPr lang="en-US" sz="900" dirty="0"/>
          </a:p>
        </p:txBody>
      </p:sp>
      <p:sp>
        <p:nvSpPr>
          <p:cNvPr id="14" name="Text 12"/>
          <p:cNvSpPr/>
          <p:nvPr/>
        </p:nvSpPr>
        <p:spPr>
          <a:xfrm>
            <a:off x="457200" y="3552825"/>
            <a:ext cx="1619250" cy="123825"/>
          </a:xfrm>
          <a:prstGeom prst="rect">
            <a:avLst/>
          </a:prstGeom>
          <a:noFill/>
          <a:ln/>
        </p:spPr>
        <p:txBody>
          <a:bodyPr wrap="square" lIns="0" tIns="0" rIns="0" bIns="0" rtlCol="0" anchor="ctr"/>
          <a:lstStyle/>
          <a:p>
            <a:pPr algn="l" indent="0" marL="0">
              <a:lnSpc>
                <a:spcPct val="100000"/>
              </a:lnSpc>
              <a:buNone/>
            </a:pPr>
            <a:r>
              <a:rPr lang="en-US" sz="975" b="1" dirty="0">
                <a:solidFill>
                  <a:srgbClr val="1F1B16"/>
                </a:solidFill>
                <a:latin typeface="Georgia" pitchFamily="34" charset="0"/>
                <a:ea typeface="Georgia" pitchFamily="34" charset="-122"/>
                <a:cs typeface="Georgia" pitchFamily="34" charset="-120"/>
              </a:rPr>
              <a:t>Hyo-Jin Lee</a:t>
            </a:r>
            <a:endParaRPr lang="en-US" sz="975" dirty="0"/>
          </a:p>
        </p:txBody>
      </p:sp>
      <p:sp>
        <p:nvSpPr>
          <p:cNvPr id="15" name="Text 13"/>
          <p:cNvSpPr/>
          <p:nvPr/>
        </p:nvSpPr>
        <p:spPr>
          <a:xfrm>
            <a:off x="2162175" y="3552825"/>
            <a:ext cx="1619250" cy="123825"/>
          </a:xfrm>
          <a:prstGeom prst="rect">
            <a:avLst/>
          </a:prstGeom>
          <a:noFill/>
          <a:ln/>
        </p:spPr>
        <p:txBody>
          <a:bodyPr wrap="square" lIns="0" tIns="0" rIns="0" bIns="0" rtlCol="0" anchor="ctr"/>
          <a:lstStyle/>
          <a:p>
            <a:pPr algn="l" indent="0" marL="0">
              <a:lnSpc>
                <a:spcPct val="100000"/>
              </a:lnSpc>
              <a:buNone/>
            </a:pPr>
            <a:r>
              <a:rPr lang="en-US" sz="675" b="1" dirty="0">
                <a:solidFill>
                  <a:srgbClr val="6B604F"/>
                </a:solidFill>
                <a:latin typeface="Inter" pitchFamily="34" charset="0"/>
                <a:ea typeface="Inter" pitchFamily="34" charset="-122"/>
                <a:cs typeface="Inter" pitchFamily="34" charset="-120"/>
              </a:rPr>
              <a:t>Designer</a:t>
            </a:r>
            <a:endParaRPr lang="en-US" sz="675" dirty="0"/>
          </a:p>
        </p:txBody>
      </p:sp>
      <p:sp>
        <p:nvSpPr>
          <p:cNvPr id="16" name="Text 14"/>
          <p:cNvSpPr/>
          <p:nvPr/>
        </p:nvSpPr>
        <p:spPr>
          <a:xfrm>
            <a:off x="457200" y="3695700"/>
            <a:ext cx="3324225" cy="180975"/>
          </a:xfrm>
          <a:prstGeom prst="rect">
            <a:avLst/>
          </a:prstGeom>
          <a:noFill/>
          <a:ln/>
        </p:spPr>
        <p:txBody>
          <a:bodyPr wrap="square" lIns="0" tIns="0" rIns="0" bIns="0" rtlCol="0" anchor="t"/>
          <a:lstStyle/>
          <a:p>
            <a:pPr algn="l" indent="0" marL="0">
              <a:lnSpc>
                <a:spcPct val="145000"/>
              </a:lnSpc>
              <a:buNone/>
            </a:pPr>
            <a:r>
              <a:rPr lang="en-US" sz="900" i="1" dirty="0">
                <a:solidFill>
                  <a:srgbClr val="6B604F"/>
                </a:solidFill>
                <a:latin typeface="Georgia" pitchFamily="34" charset="0"/>
                <a:ea typeface="Georgia" pitchFamily="34" charset="-122"/>
                <a:cs typeface="Georgia" pitchFamily="34" charset="-120"/>
              </a:rPr>
              <a:t>Set the masthead. Maintains the type system.</a:t>
            </a:r>
            <a:endParaRPr lang="en-US" sz="900" dirty="0"/>
          </a:p>
        </p:txBody>
      </p:sp>
      <p:sp>
        <p:nvSpPr>
          <p:cNvPr id="17" name="Text 15"/>
          <p:cNvSpPr/>
          <p:nvPr/>
        </p:nvSpPr>
        <p:spPr>
          <a:xfrm>
            <a:off x="457200" y="3952875"/>
            <a:ext cx="1619250" cy="123825"/>
          </a:xfrm>
          <a:prstGeom prst="rect">
            <a:avLst/>
          </a:prstGeom>
          <a:noFill/>
          <a:ln/>
        </p:spPr>
        <p:txBody>
          <a:bodyPr wrap="square" lIns="0" tIns="0" rIns="0" bIns="0" rtlCol="0" anchor="ctr"/>
          <a:lstStyle/>
          <a:p>
            <a:pPr algn="l" indent="0" marL="0">
              <a:lnSpc>
                <a:spcPct val="100000"/>
              </a:lnSpc>
              <a:buNone/>
            </a:pPr>
            <a:r>
              <a:rPr lang="en-US" sz="975" b="1" dirty="0">
                <a:solidFill>
                  <a:srgbClr val="1F1B16"/>
                </a:solidFill>
                <a:latin typeface="Georgia" pitchFamily="34" charset="0"/>
                <a:ea typeface="Georgia" pitchFamily="34" charset="-122"/>
                <a:cs typeface="Georgia" pitchFamily="34" charset="-120"/>
              </a:rPr>
              <a:t>R. P. Iyer</a:t>
            </a:r>
            <a:endParaRPr lang="en-US" sz="975" dirty="0"/>
          </a:p>
        </p:txBody>
      </p:sp>
      <p:sp>
        <p:nvSpPr>
          <p:cNvPr id="18" name="Text 16"/>
          <p:cNvSpPr/>
          <p:nvPr/>
        </p:nvSpPr>
        <p:spPr>
          <a:xfrm>
            <a:off x="2162175" y="3952875"/>
            <a:ext cx="1619250" cy="123825"/>
          </a:xfrm>
          <a:prstGeom prst="rect">
            <a:avLst/>
          </a:prstGeom>
          <a:noFill/>
          <a:ln/>
        </p:spPr>
        <p:txBody>
          <a:bodyPr wrap="square" lIns="0" tIns="0" rIns="0" bIns="0" rtlCol="0" anchor="ctr"/>
          <a:lstStyle/>
          <a:p>
            <a:pPr algn="l" indent="0" marL="0">
              <a:lnSpc>
                <a:spcPct val="100000"/>
              </a:lnSpc>
              <a:buNone/>
            </a:pPr>
            <a:r>
              <a:rPr lang="en-US" sz="675" b="1" dirty="0">
                <a:solidFill>
                  <a:srgbClr val="6B604F"/>
                </a:solidFill>
                <a:latin typeface="Inter" pitchFamily="34" charset="0"/>
                <a:ea typeface="Inter" pitchFamily="34" charset="-122"/>
                <a:cs typeface="Inter" pitchFamily="34" charset="-120"/>
              </a:rPr>
              <a:t>Editor</a:t>
            </a:r>
            <a:endParaRPr lang="en-US" sz="675" dirty="0"/>
          </a:p>
        </p:txBody>
      </p:sp>
      <p:sp>
        <p:nvSpPr>
          <p:cNvPr id="19" name="Text 17"/>
          <p:cNvSpPr/>
          <p:nvPr/>
        </p:nvSpPr>
        <p:spPr>
          <a:xfrm>
            <a:off x="457200" y="4095750"/>
            <a:ext cx="3324225" cy="171450"/>
          </a:xfrm>
          <a:prstGeom prst="rect">
            <a:avLst/>
          </a:prstGeom>
          <a:noFill/>
          <a:ln/>
        </p:spPr>
        <p:txBody>
          <a:bodyPr wrap="square" lIns="0" tIns="0" rIns="0" bIns="0" rtlCol="0" anchor="t"/>
          <a:lstStyle/>
          <a:p>
            <a:pPr algn="l" indent="0" marL="0">
              <a:lnSpc>
                <a:spcPct val="145000"/>
              </a:lnSpc>
              <a:buNone/>
            </a:pPr>
            <a:r>
              <a:rPr lang="en-US" sz="900" i="1" dirty="0">
                <a:solidFill>
                  <a:srgbClr val="6B604F"/>
                </a:solidFill>
                <a:latin typeface="Georgia" pitchFamily="34" charset="0"/>
                <a:ea typeface="Georgia" pitchFamily="34" charset="-122"/>
                <a:cs typeface="Georgia" pitchFamily="34" charset="-120"/>
              </a:rPr>
              <a:t>Closing this issue and starting the next.</a:t>
            </a:r>
            <a:endParaRPr lang="en-US" sz="900" dirty="0"/>
          </a:p>
        </p:txBody>
      </p:sp>
      <p:sp>
        <p:nvSpPr>
          <p:cNvPr id="20" name="Shape 18"/>
          <p:cNvSpPr/>
          <p:nvPr/>
        </p:nvSpPr>
        <p:spPr>
          <a:xfrm>
            <a:off x="4086225" y="2362200"/>
            <a:ext cx="9525" cy="2819400"/>
          </a:xfrm>
          <a:prstGeom prst="rect">
            <a:avLst/>
          </a:prstGeom>
          <a:solidFill>
            <a:srgbClr val="C7B998"/>
          </a:solidFill>
          <a:ln/>
        </p:spPr>
      </p:sp>
      <p:sp>
        <p:nvSpPr>
          <p:cNvPr id="21" name="Text 19"/>
          <p:cNvSpPr/>
          <p:nvPr/>
        </p:nvSpPr>
        <p:spPr>
          <a:xfrm>
            <a:off x="4400550" y="2362200"/>
            <a:ext cx="2705100" cy="266700"/>
          </a:xfrm>
          <a:prstGeom prst="rect">
            <a:avLst/>
          </a:prstGeom>
          <a:noFill/>
          <a:ln/>
        </p:spPr>
        <p:txBody>
          <a:bodyPr wrap="square" lIns="0" tIns="0" rIns="0" bIns="0" rtlCol="0" anchor="t"/>
          <a:lstStyle/>
          <a:p>
            <a:pPr algn="l" indent="0" marL="0">
              <a:lnSpc>
                <a:spcPct val="120000"/>
              </a:lnSpc>
              <a:buNone/>
            </a:pPr>
            <a:r>
              <a:rPr lang="en-US" sz="1650" b="1" dirty="0">
                <a:solidFill>
                  <a:srgbClr val="1F1B16"/>
                </a:solidFill>
                <a:latin typeface="Georgia" pitchFamily="34" charset="0"/>
                <a:ea typeface="Georgia" pitchFamily="34" charset="-122"/>
                <a:cs typeface="Georgia" pitchFamily="34" charset="-120"/>
              </a:rPr>
              <a:t>Errata · Issue 13</a:t>
            </a:r>
            <a:endParaRPr lang="en-US" sz="1650" dirty="0"/>
          </a:p>
        </p:txBody>
      </p:sp>
      <p:sp>
        <p:nvSpPr>
          <p:cNvPr id="22" name="Text 20"/>
          <p:cNvSpPr/>
          <p:nvPr/>
        </p:nvSpPr>
        <p:spPr>
          <a:xfrm>
            <a:off x="4400550" y="2743200"/>
            <a:ext cx="2705100" cy="342900"/>
          </a:xfrm>
          <a:prstGeom prst="rect">
            <a:avLst/>
          </a:prstGeom>
          <a:noFill/>
          <a:ln/>
        </p:spPr>
        <p:txBody>
          <a:bodyPr wrap="square" lIns="0" tIns="0" rIns="0" bIns="0" rtlCol="0" anchor="t"/>
          <a:lstStyle/>
          <a:p>
            <a:pPr algn="l" indent="0" marL="0">
              <a:lnSpc>
                <a:spcPct val="130000"/>
              </a:lnSpc>
              <a:buNone/>
            </a:pPr>
            <a:r>
              <a:rPr lang="en-US" sz="675" i="1" dirty="0">
                <a:solidFill>
                  <a:srgbClr val="6B604F"/>
                </a:solidFill>
                <a:latin typeface="Inter" pitchFamily="34" charset="0"/>
                <a:ea typeface="Inter" pitchFamily="34" charset="-122"/>
                <a:cs typeface="Inter" pitchFamily="34" charset="-120"/>
              </a:rPr>
              <a:t>1.</a:t>
            </a:r>
            <a:pPr algn="l" indent="0" marL="0">
              <a:lnSpc>
                <a:spcPct val="130000"/>
              </a:lnSpc>
              <a:buNone/>
            </a:pPr>
            <a:r>
              <a:rPr lang="en-US" sz="675" i="1" dirty="0">
                <a:solidFill>
                  <a:srgbClr val="6B604F"/>
                </a:solidFill>
                <a:latin typeface="Inter" pitchFamily="34" charset="0"/>
                <a:ea typeface="Inter" pitchFamily="34" charset="-122"/>
                <a:cs typeface="Inter" pitchFamily="34" charset="-120"/>
              </a:rPr>
              <a:t> The opening essay misattributed the on-call rotation diagram on page 12. Correct credit: Devon Park (data), Hyo-Jin Lee (composition). Apologies.</a:t>
            </a:r>
            <a:endParaRPr lang="en-US" sz="675" dirty="0"/>
          </a:p>
        </p:txBody>
      </p:sp>
      <p:sp>
        <p:nvSpPr>
          <p:cNvPr id="23" name="Text 21"/>
          <p:cNvSpPr/>
          <p:nvPr/>
        </p:nvSpPr>
        <p:spPr>
          <a:xfrm>
            <a:off x="4400550" y="3152775"/>
            <a:ext cx="2705100" cy="228600"/>
          </a:xfrm>
          <a:prstGeom prst="rect">
            <a:avLst/>
          </a:prstGeom>
          <a:noFill/>
          <a:ln/>
        </p:spPr>
        <p:txBody>
          <a:bodyPr wrap="square" lIns="0" tIns="0" rIns="0" bIns="0" rtlCol="0" anchor="t"/>
          <a:lstStyle/>
          <a:p>
            <a:pPr algn="l" indent="0" marL="0">
              <a:lnSpc>
                <a:spcPct val="130000"/>
              </a:lnSpc>
              <a:buNone/>
            </a:pPr>
            <a:r>
              <a:rPr lang="en-US" sz="675" i="1" dirty="0">
                <a:solidFill>
                  <a:srgbClr val="6B604F"/>
                </a:solidFill>
                <a:latin typeface="Inter" pitchFamily="34" charset="0"/>
                <a:ea typeface="Inter" pitchFamily="34" charset="-122"/>
                <a:cs typeface="Inter" pitchFamily="34" charset="-120"/>
              </a:rPr>
              <a:t>2.</a:t>
            </a:r>
            <a:pPr algn="l" indent="0" marL="0">
              <a:lnSpc>
                <a:spcPct val="130000"/>
              </a:lnSpc>
              <a:buNone/>
            </a:pPr>
            <a:r>
              <a:rPr lang="en-US" sz="675" i="1" dirty="0">
                <a:solidFill>
                  <a:srgbClr val="6B604F"/>
                </a:solidFill>
                <a:latin typeface="Inter" pitchFamily="34" charset="0"/>
                <a:ea typeface="Inter" pitchFamily="34" charset="-122"/>
                <a:cs typeface="Inter" pitchFamily="34" charset="-120"/>
              </a:rPr>
              <a:t> A stat in the closing graph cited 14.2% as the median; the correct figure is 13.4%. Source data unchanged.</a:t>
            </a:r>
            <a:endParaRPr lang="en-US" sz="675" dirty="0"/>
          </a:p>
        </p:txBody>
      </p:sp>
      <p:sp>
        <p:nvSpPr>
          <p:cNvPr id="24" name="Text 22"/>
          <p:cNvSpPr/>
          <p:nvPr/>
        </p:nvSpPr>
        <p:spPr>
          <a:xfrm>
            <a:off x="4400550" y="3648075"/>
            <a:ext cx="2705100" cy="514350"/>
          </a:xfrm>
          <a:prstGeom prst="rect">
            <a:avLst/>
          </a:prstGeom>
          <a:noFill/>
          <a:ln/>
        </p:spPr>
        <p:txBody>
          <a:bodyPr wrap="square" lIns="0" tIns="0" rIns="0" bIns="0" rtlCol="0" anchor="t"/>
          <a:lstStyle/>
          <a:p>
            <a:pPr algn="l" indent="0" marL="0">
              <a:lnSpc>
                <a:spcPct val="120000"/>
              </a:lnSpc>
              <a:buNone/>
            </a:pPr>
            <a:r>
              <a:rPr lang="en-US" sz="1650" b="1" dirty="0">
                <a:solidFill>
                  <a:srgbClr val="1F1B16"/>
                </a:solidFill>
                <a:latin typeface="Georgia" pitchFamily="34" charset="0"/>
                <a:ea typeface="Georgia" pitchFamily="34" charset="-122"/>
                <a:cs typeface="Georgia" pitchFamily="34" charset="-120"/>
              </a:rPr>
              <a:t>Next issue · 15 · Spring 2026</a:t>
            </a:r>
            <a:endParaRPr lang="en-US" sz="1650" dirty="0"/>
          </a:p>
        </p:txBody>
      </p:sp>
      <p:sp>
        <p:nvSpPr>
          <p:cNvPr id="25" name="Text 23"/>
          <p:cNvSpPr/>
          <p:nvPr/>
        </p:nvSpPr>
        <p:spPr>
          <a:xfrm>
            <a:off x="4400550" y="4200525"/>
            <a:ext cx="2705100" cy="514350"/>
          </a:xfrm>
          <a:prstGeom prst="rect">
            <a:avLst/>
          </a:prstGeom>
          <a:noFill/>
          <a:ln/>
        </p:spPr>
        <p:txBody>
          <a:bodyPr wrap="square" lIns="0" tIns="0" rIns="0" bIns="0" rtlCol="0" anchor="t"/>
          <a:lstStyle/>
          <a:p>
            <a:pPr algn="l" indent="0" marL="0">
              <a:lnSpc>
                <a:spcPct val="150000"/>
              </a:lnSpc>
              <a:buNone/>
            </a:pPr>
            <a:r>
              <a:rPr lang="en-US" sz="900" dirty="0">
                <a:solidFill>
                  <a:srgbClr val="3A332B"/>
                </a:solidFill>
                <a:latin typeface="Georgia" pitchFamily="34" charset="0"/>
                <a:ea typeface="Georgia" pitchFamily="34" charset="-122"/>
                <a:cs typeface="Georgia" pitchFamily="34" charset="-120"/>
              </a:rPr>
              <a:t>A reading week on observability.</a:t>
            </a:r>
            <a:pPr algn="l" indent="0" marL="0">
              <a:lnSpc>
                <a:spcPct val="150000"/>
              </a:lnSpc>
              <a:buNone/>
            </a:pPr>
            <a:r>
              <a:rPr lang="en-US" sz="900" dirty="0">
                <a:solidFill>
                  <a:srgbClr val="3A332B"/>
                </a:solidFill>
                <a:latin typeface="Georgia" pitchFamily="34" charset="0"/>
                <a:ea typeface="Georgia" pitchFamily="34" charset="-122"/>
                <a:cs typeface="Georgia" pitchFamily="34" charset="-120"/>
              </a:rPr>
              <a:t> Submissions open through April 6. Letters: </a:t>
            </a:r>
            <a:pPr algn="l" indent="0" marL="0">
              <a:lnSpc>
                <a:spcPct val="150000"/>
              </a:lnSpc>
              <a:buNone/>
            </a:pPr>
            <a:r>
              <a:rPr lang="en-US" sz="900" dirty="0">
                <a:solidFill>
                  <a:srgbClr val="3A332B"/>
                </a:solidFill>
                <a:latin typeface="Georgia" pitchFamily="34" charset="0"/>
                <a:ea typeface="Georgia" pitchFamily="34" charset="-122"/>
                <a:cs typeface="Georgia" pitchFamily="34" charset="-120"/>
              </a:rPr>
              <a:t>letters@quarterly.press</a:t>
            </a:r>
            <a:pPr algn="l" indent="0" marL="0">
              <a:lnSpc>
                <a:spcPct val="150000"/>
              </a:lnSpc>
              <a:buNone/>
            </a:pPr>
            <a:r>
              <a:rPr lang="en-US" sz="900" dirty="0">
                <a:solidFill>
                  <a:srgbClr val="3A332B"/>
                </a:solidFill>
                <a:latin typeface="Georgia" pitchFamily="34" charset="0"/>
                <a:ea typeface="Georgia" pitchFamily="34" charset="-122"/>
                <a:cs typeface="Georgia" pitchFamily="34" charset="-120"/>
              </a:rPr>
              <a:t>.</a:t>
            </a:r>
            <a:endParaRPr lang="en-US" sz="900" dirty="0"/>
          </a:p>
        </p:txBody>
      </p:sp>
      <p:sp>
        <p:nvSpPr>
          <p:cNvPr id="26" name="Text 24"/>
          <p:cNvSpPr/>
          <p:nvPr/>
        </p:nvSpPr>
        <p:spPr>
          <a:xfrm>
            <a:off x="4400550" y="5048250"/>
            <a:ext cx="2705100" cy="85725"/>
          </a:xfrm>
          <a:prstGeom prst="rect">
            <a:avLst/>
          </a:prstGeom>
          <a:noFill/>
          <a:ln/>
        </p:spPr>
        <p:txBody>
          <a:bodyPr wrap="square" lIns="0" tIns="0" rIns="0" bIns="0" rtlCol="0" anchor="t"/>
          <a:lstStyle/>
          <a:p>
            <a:pPr algn="l" indent="0" marL="0">
              <a:lnSpc>
                <a:spcPct val="100000"/>
              </a:lnSpc>
              <a:buNone/>
            </a:pPr>
            <a:r>
              <a:rPr lang="en-US" sz="675" b="1" dirty="0">
                <a:solidFill>
                  <a:srgbClr val="9A2A1F"/>
                </a:solidFill>
                <a:latin typeface="Inter" pitchFamily="34" charset="0"/>
                <a:ea typeface="Inter" pitchFamily="34" charset="-122"/>
                <a:cs typeface="Inter" pitchFamily="34" charset="-120"/>
              </a:rPr>
              <a:t>END OF FEATURE</a:t>
            </a:r>
            <a:endParaRPr lang="en-US" sz="675" dirty="0"/>
          </a:p>
        </p:txBody>
      </p:sp>
      <p:sp>
        <p:nvSpPr>
          <p:cNvPr id="27" name="Shape 25"/>
          <p:cNvSpPr/>
          <p:nvPr/>
        </p:nvSpPr>
        <p:spPr>
          <a:xfrm>
            <a:off x="4400550" y="5172075"/>
            <a:ext cx="2695575" cy="19050"/>
          </a:xfrm>
          <a:prstGeom prst="rect">
            <a:avLst/>
          </a:prstGeom>
          <a:solidFill>
            <a:srgbClr val="1F1B16"/>
          </a:solidFill>
          <a:ln/>
        </p:spPr>
      </p:sp>
      <p:sp>
        <p:nvSpPr>
          <p:cNvPr id="25" name="Slide Number Placeholder 0"/>
          <p:cNvSpPr>
            <a:spLocks noGrp="1"/>
          </p:cNvSpPr>
          <p:nvPr>
            <p:ph type="sldNum" sz="quarter" idx="4294967295"/>
          </p:nvPr>
        </p:nvSpPr>
        <p:spPr>
          <a:xfrm>
            <a:off x="6667500" y="10248900"/>
            <a:ext cx="419100" cy="171450"/>
          </a:xfrm>
          <a:prstGeom prst="rect">
            <a:avLst/>
          </a:prstGeom>
          <a:extLst>
            <a:ext uri="{C572A759-6A51-4108-AA02-DFA0A04FC94B}">
              <ma14:wrappingTextBoxFlag xmlns:ma14="http://schemas.microsoft.com/office/mac/drawingml/2011/main" val="0"/>
            </a:ext>
          </a:extLst>
        </p:spPr>
        <p:txBody>
          <a:bodyPr/>
          <a:lstStyle>
            <a:lvl1pPr>
              <a:defRPr sz="825">
                <a:solidFill>
                  <a:srgbClr val="1F1B16"/>
                </a:solidFill>
                <a:latin typeface="Inter"/>
                <a:ea typeface="Inter"/>
                <a:cs typeface="Inter"/>
              </a:defRPr>
            </a:lvl1pPr>
          </a:lstStyle>
          <a:p>
            <a:pPr algn="l"/>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2026-05-11T06:05:33Z</dcterms:created>
  <dcterms:modified xsi:type="dcterms:W3CDTF">2026-05-11T06:05:33Z</dcterms:modified>
</cp:coreProperties>
</file>